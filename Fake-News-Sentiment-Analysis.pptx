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4630400" cy="8229600"/>
  <p:notesSz cx="8229600" cy="14630400"/>
  <p:embeddedFontLst>
    <p:embeddedFont>
      <p:font typeface="Libre Baskerville" panose="02000000000000000000" pitchFamily="34" charset="0"/>
      <p:regular r:id="rId18"/>
    </p:embeddedFont>
    <p:embeddedFont>
      <p:font typeface="Libre Baskerville" panose="02000000000000000000" pitchFamily="34" charset="-122"/>
      <p:regular r:id="rId19"/>
    </p:embeddedFont>
    <p:embeddedFont>
      <p:font typeface="Libre Baskerville" panose="02000000000000000000" pitchFamily="34" charset="-120"/>
      <p:regular r:id="rId20"/>
    </p:embeddedFont>
    <p:embeddedFont>
      <p:font typeface="DM Sans" pitchFamily="34" charset="0"/>
      <p:regular r:id="rId21"/>
    </p:embeddedFont>
    <p:embeddedFont>
      <p:font typeface="DM Sans" pitchFamily="34" charset="-122"/>
      <p:regular r:id="rId22"/>
    </p:embeddedFont>
    <p:embeddedFont>
      <p:font typeface="DM Sans" pitchFamily="34" charset="-120"/>
      <p:regular r:id="rId23"/>
    </p:embeddedFont>
    <p:embeddedFont>
      <p:font typeface="Calibri" panose="020F0502020204030204" charset="0"/>
      <p:regular r:id="rId24"/>
      <p:bold r:id="rId25"/>
      <p:italic r:id="rId26"/>
      <p:boldItalic r:id="rId27"/>
    </p:embeddedFont>
    <p:embeddedFont>
      <p:font typeface="Baskerville Old Face" panose="02020602080505020303" pitchFamily="18" charset="0"/>
      <p:regular r:id="rId28"/>
    </p:embeddedFont>
    <p:embeddedFont>
      <p:font typeface="Sitka Small Semibold" charset="0"/>
      <p:bold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23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font" Target="fonts/font12.fntdata"/><Relationship Id="rId28" Type="http://schemas.openxmlformats.org/officeDocument/2006/relationships/font" Target="fonts/font11.fntdata"/><Relationship Id="rId27" Type="http://schemas.openxmlformats.org/officeDocument/2006/relationships/font" Target="fonts/font10.fntdata"/><Relationship Id="rId26" Type="http://schemas.openxmlformats.org/officeDocument/2006/relationships/font" Target="fonts/font9.fntdata"/><Relationship Id="rId25" Type="http://schemas.openxmlformats.org/officeDocument/2006/relationships/font" Target="fonts/font8.fntdata"/><Relationship Id="rId24" Type="http://schemas.openxmlformats.org/officeDocument/2006/relationships/font" Target="fonts/font7.fntdata"/><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B88E23"/>
          </a:solidFill>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solidFill>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solidFill>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solidFill>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B88E23"/>
          </a:solidFill>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solidFill>
        </p:spPr>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notesSlide" Target="../notesSlides/notesSlide3.xml"/><Relationship Id="rId25" Type="http://schemas.openxmlformats.org/officeDocument/2006/relationships/slideLayout" Target="../slideLayouts/slideLayout4.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5.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6.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9.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image" Target="../media/image14.png"/><Relationship Id="rId3" Type="http://schemas.openxmlformats.org/officeDocument/2006/relationships/tags" Target="../tags/tag31.xml"/><Relationship Id="rId26" Type="http://schemas.openxmlformats.org/officeDocument/2006/relationships/notesSlide" Target="../notesSlides/notesSlide9.xml"/><Relationship Id="rId25" Type="http://schemas.openxmlformats.org/officeDocument/2006/relationships/slideLayout" Target="../slideLayouts/slideLayout10.xml"/><Relationship Id="rId24" Type="http://schemas.openxmlformats.org/officeDocument/2006/relationships/tags" Target="../tags/tag48.xml"/><Relationship Id="rId23" Type="http://schemas.openxmlformats.org/officeDocument/2006/relationships/tags" Target="../tags/tag47.xml"/><Relationship Id="rId22" Type="http://schemas.openxmlformats.org/officeDocument/2006/relationships/image" Target="../media/image17.png"/><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30.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image" Target="../media/image16.png"/><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image" Target="../media/image15.png"/><Relationship Id="rId1" Type="http://schemas.openxmlformats.org/officeDocument/2006/relationships/tags" Target="../tags/tag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alpha val="85000"/>
            </a:srgbClr>
          </a:solidFill>
        </p:spPr>
        <p:txBody>
          <a:bodyPr/>
          <a:p>
            <a:endParaRPr lang="en-US"/>
          </a:p>
        </p:txBody>
      </p:sp>
      <p:sp>
        <p:nvSpPr>
          <p:cNvPr id="4" name="Text 1"/>
          <p:cNvSpPr/>
          <p:nvPr/>
        </p:nvSpPr>
        <p:spPr>
          <a:xfrm>
            <a:off x="3008630" y="2924175"/>
            <a:ext cx="9796145" cy="899795"/>
          </a:xfrm>
          <a:prstGeom prst="rect">
            <a:avLst/>
          </a:prstGeom>
          <a:noFill/>
        </p:spPr>
        <p:txBody>
          <a:bodyPr wrap="none" lIns="0" tIns="0" rIns="0" bIns="0" rtlCol="0" anchor="t"/>
          <a:lstStyle/>
          <a:p>
            <a:pPr marL="0" indent="0" algn="l">
              <a:lnSpc>
                <a:spcPts val="5550"/>
              </a:lnSpc>
              <a:buNone/>
            </a:pPr>
            <a:r>
              <a:rPr lang="en-US" sz="445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Fake News Sentiment Analysis</a:t>
            </a:r>
            <a:endParaRPr lang="en-US" sz="4450" dirty="0"/>
          </a:p>
        </p:txBody>
      </p:sp>
      <p:sp>
        <p:nvSpPr>
          <p:cNvPr id="5" name="Text 2"/>
          <p:cNvSpPr/>
          <p:nvPr/>
        </p:nvSpPr>
        <p:spPr>
          <a:xfrm>
            <a:off x="793750" y="4725035"/>
            <a:ext cx="13042900" cy="2705735"/>
          </a:xfrm>
          <a:prstGeom prst="rect">
            <a:avLst/>
          </a:prstGeom>
          <a:noFill/>
        </p:spPr>
        <p:txBody>
          <a:bodyPr wrap="none" lIns="0" tIns="0" rIns="0" bIns="0" rtlCol="0" anchor="t"/>
          <a:lstStyle/>
          <a:p>
            <a:pPr marL="0" indent="0" algn="ctr">
              <a:lnSpc>
                <a:spcPts val="2850"/>
              </a:lnSpc>
              <a:buNone/>
            </a:pPr>
            <a:r>
              <a:rPr lang="en-IN" altLang="en-US" sz="2400" dirty="0">
                <a:solidFill>
                  <a:srgbClr val="454240"/>
                </a:solidFill>
                <a:latin typeface="Sitka Small Semibold" charset="0"/>
                <a:ea typeface="DM Sans" pitchFamily="34" charset="-122"/>
                <a:cs typeface="Sitka Small Semibold" charset="0"/>
              </a:rPr>
              <a:t>TEAM MEMBERS</a:t>
            </a:r>
            <a:endParaRPr lang="en-IN" altLang="en-US" sz="2400" dirty="0">
              <a:solidFill>
                <a:srgbClr val="454240"/>
              </a:solidFill>
              <a:latin typeface="Sitka Small Semibold" charset="0"/>
              <a:ea typeface="DM Sans" pitchFamily="34" charset="-122"/>
              <a:cs typeface="Sitka Small Semibold" charset="0"/>
            </a:endParaRPr>
          </a:p>
          <a:p>
            <a:pPr marL="0" indent="0" algn="ctr">
              <a:lnSpc>
                <a:spcPts val="2850"/>
              </a:lnSpc>
              <a:buNone/>
            </a:pPr>
            <a:endParaRPr lang="en-US" dirty="0">
              <a:latin typeface="Baskerville Old Face" panose="02020602080505020303" pitchFamily="18" charset="0"/>
              <a:cs typeface="Aldhabi" panose="01000000000000000000" pitchFamily="2" charset="-78"/>
              <a:sym typeface="+mn-ea"/>
            </a:endParaRPr>
          </a:p>
          <a:p>
            <a:pPr marL="0" indent="0" algn="ctr">
              <a:lnSpc>
                <a:spcPts val="2850"/>
              </a:lnSpc>
              <a:buNone/>
            </a:pPr>
            <a:r>
              <a:rPr lang="en-US" dirty="0">
                <a:latin typeface="Baskerville Old Face" panose="02020602080505020303" pitchFamily="18" charset="0"/>
                <a:cs typeface="Aldhabi" panose="01000000000000000000" pitchFamily="2" charset="-78"/>
                <a:sym typeface="+mn-ea"/>
              </a:rPr>
              <a:t>2300033616-Y.MEGHANA CHOWDARY</a:t>
            </a:r>
            <a:endParaRPr lang="en-US" dirty="0">
              <a:latin typeface="Baskerville Old Face" panose="02020602080505020303" pitchFamily="18" charset="0"/>
              <a:cs typeface="Aldhabi" panose="01000000000000000000" pitchFamily="2" charset="-78"/>
              <a:sym typeface="+mn-ea"/>
            </a:endParaRPr>
          </a:p>
          <a:p>
            <a:pPr marL="0" indent="0" algn="ctr">
              <a:lnSpc>
                <a:spcPts val="2850"/>
              </a:lnSpc>
              <a:buNone/>
            </a:pPr>
            <a:r>
              <a:rPr lang="en-US" dirty="0">
                <a:latin typeface="Baskerville Old Face" panose="02020602080505020303" pitchFamily="18" charset="0"/>
                <a:cs typeface="Aldhabi" panose="01000000000000000000" pitchFamily="2" charset="-78"/>
                <a:sym typeface="+mn-ea"/>
              </a:rPr>
              <a:t>2300033735-R.PRAVALIKA</a:t>
            </a:r>
            <a:endParaRPr lang="en-US" dirty="0">
              <a:latin typeface="Baskerville Old Face" panose="02020602080505020303" pitchFamily="18" charset="0"/>
              <a:cs typeface="Aldhabi" panose="01000000000000000000" pitchFamily="2" charset="-78"/>
              <a:sym typeface="+mn-ea"/>
            </a:endParaRPr>
          </a:p>
          <a:p>
            <a:pPr marL="0" indent="0" algn="ctr">
              <a:lnSpc>
                <a:spcPts val="2850"/>
              </a:lnSpc>
              <a:buNone/>
            </a:pPr>
            <a:r>
              <a:rPr lang="en-US" dirty="0">
                <a:latin typeface="Baskerville Old Face" panose="02020602080505020303" pitchFamily="18" charset="0"/>
                <a:cs typeface="Aldhabi" panose="01000000000000000000" pitchFamily="2" charset="-78"/>
                <a:sym typeface="+mn-ea"/>
              </a:rPr>
              <a:t>2300033631-PILLYI G SHANKAR</a:t>
            </a:r>
            <a:endParaRPr lang="en-US" dirty="0">
              <a:latin typeface="Baskerville Old Face" panose="02020602080505020303" pitchFamily="18" charset="0"/>
              <a:cs typeface="Aldhabi" panose="01000000000000000000" pitchFamily="2" charset="-78"/>
              <a:sym typeface="+mn-ea"/>
            </a:endParaRPr>
          </a:p>
          <a:p>
            <a:pPr marL="0" indent="0" algn="ctr">
              <a:lnSpc>
                <a:spcPts val="2850"/>
              </a:lnSpc>
              <a:buNone/>
            </a:pPr>
            <a:r>
              <a:rPr lang="en-US" dirty="0">
                <a:latin typeface="Baskerville Old Face" panose="02020602080505020303" pitchFamily="18" charset="0"/>
                <a:cs typeface="Aldhabi" panose="01000000000000000000" pitchFamily="2" charset="-78"/>
                <a:sym typeface="+mn-ea"/>
              </a:rPr>
              <a:t>2300033667-SHREE NANDAN REDDY </a:t>
            </a:r>
            <a:endParaRPr lang="en-US" dirty="0">
              <a:latin typeface="Baskerville Old Face" panose="02020602080505020303" pitchFamily="18" charset="0"/>
              <a:cs typeface="Aldhabi" panose="01000000000000000000" pitchFamily="2" charset="-78"/>
              <a:sym typeface="+mn-ea"/>
            </a:endParaRPr>
          </a:p>
          <a:p>
            <a:pPr marL="0" indent="0" algn="ctr">
              <a:lnSpc>
                <a:spcPts val="2850"/>
              </a:lnSpc>
              <a:buNone/>
            </a:pPr>
            <a:endParaRPr lang="en-IN" altLang="en-US" dirty="0">
              <a:solidFill>
                <a:srgbClr val="454240"/>
              </a:solidFill>
              <a:latin typeface="Bodoni MT Black" panose="02070A03080606020203" charset="0"/>
              <a:ea typeface="DM Sans" pitchFamily="34" charset="-122"/>
              <a:cs typeface="Bodoni MT Black" panose="02070A03080606020203"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9940" y="722630"/>
            <a:ext cx="13049885" cy="982980"/>
          </a:xfrm>
          <a:prstGeom prst="rect">
            <a:avLst/>
          </a:prstGeom>
          <a:noFill/>
        </p:spPr>
        <p:txBody>
          <a:bodyPr wrap="square" lIns="0" tIns="0" rIns="0" bIns="0" rtlCol="0" anchor="t"/>
          <a:lstStyle/>
          <a:p>
            <a:pPr marL="0" indent="0" algn="l">
              <a:lnSpc>
                <a:spcPts val="5550"/>
              </a:lnSpc>
              <a:buNone/>
            </a:pPr>
            <a:r>
              <a:rPr lang="en-IN" altLang="en-US" sz="40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Problem Overview</a:t>
            </a:r>
            <a:r>
              <a:rPr lang="en-US" sz="40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 The </a:t>
            </a:r>
            <a:r>
              <a:rPr lang="en-IN" altLang="en-US" sz="40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Impact Of Fake News</a:t>
            </a:r>
            <a:endParaRPr lang="en-IN" altLang="en-US" sz="40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endParaRPr>
          </a:p>
        </p:txBody>
      </p:sp>
      <p:sp>
        <p:nvSpPr>
          <p:cNvPr id="3" name="Text 1"/>
          <p:cNvSpPr/>
          <p:nvPr/>
        </p:nvSpPr>
        <p:spPr>
          <a:xfrm>
            <a:off x="789940" y="1948180"/>
            <a:ext cx="13049885" cy="2741295"/>
          </a:xfrm>
          <a:prstGeom prst="rect">
            <a:avLst/>
          </a:prstGeom>
          <a:noFill/>
        </p:spPr>
        <p:txBody>
          <a:bodyPr wrap="square" lIns="0" tIns="0" rIns="0" bIns="0" rtlCol="0" anchor="t"/>
          <a:lstStyle/>
          <a:p>
            <a:pPr marL="0" indent="0" algn="l">
              <a:lnSpc>
                <a:spcPts val="3550"/>
              </a:lnSpc>
              <a:buNone/>
            </a:pPr>
            <a:r>
              <a:rPr lang="en-US" altLang="en-US" sz="2000" dirty="0"/>
              <a:t>Nowadays, most people get their news from social media and online platforms. While this makes information quick to reach, it also increases the spread of fake news, which can mislead people, create fear or false hope, and even influence public opinion. At the same time, every news article carries some emotion such as positive, negative, or neutral. Checking all this manually is difficult and time-consuming. Therefore, there is a need for an automated system that can detect whether news is real or fake and also analyze its sentiment to understand its emotional impact.</a:t>
            </a:r>
            <a:endParaRPr lang="en-US" altLang="en-US" sz="2000" dirty="0"/>
          </a:p>
        </p:txBody>
      </p:sp>
      <p:pic>
        <p:nvPicPr>
          <p:cNvPr id="4" name="Image 0" descr="preencoded.png"/>
          <p:cNvPicPr>
            <a:picLocks noChangeAspect="1"/>
          </p:cNvPicPr>
          <p:nvPr/>
        </p:nvPicPr>
        <p:blipFill>
          <a:blip r:embed="rId1"/>
          <a:stretch>
            <a:fillRect/>
          </a:stretch>
        </p:blipFill>
        <p:spPr>
          <a:xfrm>
            <a:off x="2368272" y="4688681"/>
            <a:ext cx="4856559" cy="2709386"/>
          </a:xfrm>
          <a:prstGeom prst="rect">
            <a:avLst/>
          </a:prstGeom>
        </p:spPr>
      </p:pic>
      <p:pic>
        <p:nvPicPr>
          <p:cNvPr id="5" name="Image 1" descr="preencoded.png"/>
          <p:cNvPicPr>
            <a:picLocks noChangeAspect="1"/>
          </p:cNvPicPr>
          <p:nvPr/>
        </p:nvPicPr>
        <p:blipFill>
          <a:blip r:embed="rId2"/>
          <a:stretch>
            <a:fillRect/>
          </a:stretch>
        </p:blipFill>
        <p:spPr>
          <a:xfrm>
            <a:off x="7405449" y="4688681"/>
            <a:ext cx="4856559" cy="2709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494955" y="676632"/>
            <a:ext cx="9640372" cy="708779"/>
          </a:xfrm>
          <a:prstGeom prst="rect">
            <a:avLst/>
          </a:prstGeom>
          <a:noFill/>
        </p:spPr>
        <p:txBody>
          <a:bodyPr wrap="none" lIns="0" tIns="0" rIns="0" bIns="0" rtlCol="0" anchor="t"/>
          <a:lstStyle/>
          <a:p>
            <a:pPr marL="0" indent="0" algn="ctr">
              <a:lnSpc>
                <a:spcPts val="5550"/>
              </a:lnSpc>
              <a:buNone/>
            </a:pPr>
            <a:r>
              <a:rPr lang="en-US" sz="445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Objectives &amp; Learning Outcomes</a:t>
            </a:r>
            <a:endParaRPr lang="en-US" sz="4450" dirty="0"/>
          </a:p>
        </p:txBody>
      </p:sp>
      <p:sp>
        <p:nvSpPr>
          <p:cNvPr id="3" name="Shape 1"/>
          <p:cNvSpPr/>
          <p:nvPr>
            <p:custDataLst>
              <p:tags r:id="rId1"/>
            </p:custDataLst>
          </p:nvPr>
        </p:nvSpPr>
        <p:spPr>
          <a:xfrm>
            <a:off x="793790" y="2179201"/>
            <a:ext cx="6407944" cy="2403396"/>
          </a:xfrm>
          <a:prstGeom prst="roundRect">
            <a:avLst>
              <a:gd name="adj" fmla="val 6087"/>
            </a:avLst>
          </a:prstGeom>
          <a:solidFill>
            <a:srgbClr val="B88E23"/>
          </a:solidFill>
        </p:spPr>
      </p:sp>
      <p:sp>
        <p:nvSpPr>
          <p:cNvPr id="4" name="Shape 2"/>
          <p:cNvSpPr/>
          <p:nvPr>
            <p:custDataLst>
              <p:tags r:id="rId2"/>
            </p:custDataLst>
          </p:nvPr>
        </p:nvSpPr>
        <p:spPr>
          <a:xfrm>
            <a:off x="793790" y="2148721"/>
            <a:ext cx="6407944" cy="121920"/>
          </a:xfrm>
          <a:prstGeom prst="roundRect">
            <a:avLst>
              <a:gd name="adj" fmla="val 78139"/>
            </a:avLst>
          </a:prstGeom>
          <a:solidFill>
            <a:srgbClr val="B88E23"/>
          </a:solidFill>
        </p:spPr>
      </p:sp>
      <p:sp>
        <p:nvSpPr>
          <p:cNvPr id="5" name="Shape 3"/>
          <p:cNvSpPr/>
          <p:nvPr>
            <p:custDataLst>
              <p:tags r:id="rId3"/>
            </p:custDataLst>
          </p:nvPr>
        </p:nvSpPr>
        <p:spPr>
          <a:xfrm>
            <a:off x="3657540" y="1839039"/>
            <a:ext cx="680442" cy="680442"/>
          </a:xfrm>
          <a:prstGeom prst="roundRect">
            <a:avLst>
              <a:gd name="adj" fmla="val 134383"/>
            </a:avLst>
          </a:prstGeom>
          <a:solidFill>
            <a:srgbClr val="B88E23"/>
          </a:solidFill>
        </p:spPr>
      </p:sp>
      <p:sp>
        <p:nvSpPr>
          <p:cNvPr id="6" name="Text 4"/>
          <p:cNvSpPr/>
          <p:nvPr>
            <p:custDataLst>
              <p:tags r:id="rId4"/>
            </p:custDataLst>
          </p:nvPr>
        </p:nvSpPr>
        <p:spPr>
          <a:xfrm>
            <a:off x="3861614" y="2009180"/>
            <a:ext cx="272177" cy="340162"/>
          </a:xfrm>
          <a:prstGeom prst="rect">
            <a:avLst/>
          </a:prstGeom>
          <a:noFill/>
        </p:spPr>
        <p:txBody>
          <a:bodyPr wrap="none" lIns="0" tIns="0" rIns="0" bIns="0" rtlCol="0" anchor="t"/>
          <a:lstStyle/>
          <a:p>
            <a:pPr marL="0" indent="0" algn="l">
              <a:lnSpc>
                <a:spcPts val="3400"/>
              </a:lnSpc>
              <a:buNone/>
            </a:pPr>
            <a:r>
              <a:rPr lang="en-US" sz="210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1</a:t>
            </a:r>
            <a:endParaRPr lang="en-US" sz="2100" dirty="0"/>
          </a:p>
        </p:txBody>
      </p:sp>
      <p:sp>
        <p:nvSpPr>
          <p:cNvPr id="7" name="Text 5"/>
          <p:cNvSpPr/>
          <p:nvPr>
            <p:custDataLst>
              <p:tags r:id="rId5"/>
            </p:custDataLst>
          </p:nvPr>
        </p:nvSpPr>
        <p:spPr>
          <a:xfrm>
            <a:off x="1070610" y="2746375"/>
            <a:ext cx="4305935" cy="354330"/>
          </a:xfrm>
          <a:prstGeom prst="rect">
            <a:avLst/>
          </a:prstGeom>
          <a:noFill/>
        </p:spPr>
        <p:txBody>
          <a:bodyPr wrap="none" lIns="0" tIns="0" rIns="0" bIns="0" rtlCol="0" anchor="t"/>
          <a:lstStyle/>
          <a:p>
            <a:pPr marL="0" indent="0" algn="l">
              <a:lnSpc>
                <a:spcPts val="2750"/>
              </a:lnSpc>
              <a:buNone/>
            </a:pPr>
            <a:r>
              <a:rPr lang="en-IN" altLang="en-US" sz="220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 Artificial Intelligence</a:t>
            </a:r>
            <a:r>
              <a:rPr lang="en-US" sz="220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
            </a:r>
            <a:endParaRPr lang="en-US" sz="2200" dirty="0"/>
          </a:p>
        </p:txBody>
      </p:sp>
      <p:sp>
        <p:nvSpPr>
          <p:cNvPr id="8" name="Text 6"/>
          <p:cNvSpPr/>
          <p:nvPr>
            <p:custDataLst>
              <p:tags r:id="rId6"/>
            </p:custDataLst>
          </p:nvPr>
        </p:nvSpPr>
        <p:spPr>
          <a:xfrm>
            <a:off x="1051084" y="3236595"/>
            <a:ext cx="5893356" cy="1088708"/>
          </a:xfrm>
          <a:prstGeom prst="rect">
            <a:avLst/>
          </a:prstGeom>
          <a:noFill/>
        </p:spPr>
        <p:txBody>
          <a:bodyPr wrap="square" lIns="0" tIns="0" rIns="0" bIns="0" rtlCol="0" anchor="t"/>
          <a:lstStyle/>
          <a:p>
            <a:pPr marL="0" indent="0" algn="l">
              <a:lnSpc>
                <a:spcPts val="2850"/>
              </a:lnSpc>
              <a:buNone/>
            </a:pPr>
            <a:r>
              <a:rPr lang="en-US" altLang="en-US" sz="1750" dirty="0">
                <a:latin typeface="Sitka Small Semibold" charset="0"/>
                <a:cs typeface="Sitka Small Semibold" charset="0"/>
              </a:rPr>
              <a:t/>
            </a:r>
            <a:r>
              <a:rPr lang="en-IN" altLang="en-US" sz="1750" dirty="0">
                <a:latin typeface="Sitka Small Semibold" charset="0"/>
                <a:cs typeface="Sitka Small Semibold" charset="0"/>
              </a:rPr>
              <a:t>It </a:t>
            </a:r>
            <a:r>
              <a:rPr lang="en-US" altLang="en-US" sz="1750" dirty="0">
                <a:latin typeface="Sitka Small Semibold" charset="0"/>
                <a:cs typeface="Sitka Small Semibold" charset="0"/>
              </a:rPr>
              <a:t>is a technology that enables machines to think, learn, and make decisions like humans. It is used in this project to automatically detect fake news </a:t>
            </a:r>
            <a:endParaRPr lang="en-US" altLang="en-US" sz="1750" dirty="0">
              <a:latin typeface="Sitka Small Semibold" charset="0"/>
              <a:cs typeface="Sitka Small Semibold" charset="0"/>
            </a:endParaRPr>
          </a:p>
        </p:txBody>
      </p:sp>
      <p:sp>
        <p:nvSpPr>
          <p:cNvPr id="9" name="Shape 7"/>
          <p:cNvSpPr/>
          <p:nvPr>
            <p:custDataLst>
              <p:tags r:id="rId7"/>
            </p:custDataLst>
          </p:nvPr>
        </p:nvSpPr>
        <p:spPr>
          <a:xfrm>
            <a:off x="7428548" y="2179201"/>
            <a:ext cx="6408063" cy="2403396"/>
          </a:xfrm>
          <a:prstGeom prst="roundRect">
            <a:avLst>
              <a:gd name="adj" fmla="val 6087"/>
            </a:avLst>
          </a:prstGeom>
          <a:solidFill>
            <a:srgbClr val="B88E23"/>
          </a:solidFill>
        </p:spPr>
      </p:sp>
      <p:sp>
        <p:nvSpPr>
          <p:cNvPr id="10" name="Shape 8"/>
          <p:cNvSpPr/>
          <p:nvPr>
            <p:custDataLst>
              <p:tags r:id="rId8"/>
            </p:custDataLst>
          </p:nvPr>
        </p:nvSpPr>
        <p:spPr>
          <a:xfrm>
            <a:off x="7428548" y="2148721"/>
            <a:ext cx="6408063" cy="121920"/>
          </a:xfrm>
          <a:prstGeom prst="roundRect">
            <a:avLst>
              <a:gd name="adj" fmla="val 78139"/>
            </a:avLst>
          </a:prstGeom>
          <a:solidFill>
            <a:srgbClr val="B88E23"/>
          </a:solidFill>
        </p:spPr>
      </p:sp>
      <p:sp>
        <p:nvSpPr>
          <p:cNvPr id="11" name="Shape 9"/>
          <p:cNvSpPr/>
          <p:nvPr>
            <p:custDataLst>
              <p:tags r:id="rId9"/>
            </p:custDataLst>
          </p:nvPr>
        </p:nvSpPr>
        <p:spPr>
          <a:xfrm>
            <a:off x="10292298" y="1839039"/>
            <a:ext cx="680442" cy="680442"/>
          </a:xfrm>
          <a:prstGeom prst="roundRect">
            <a:avLst>
              <a:gd name="adj" fmla="val 134383"/>
            </a:avLst>
          </a:prstGeom>
          <a:solidFill>
            <a:srgbClr val="B88E23"/>
          </a:solidFill>
        </p:spPr>
      </p:sp>
      <p:sp>
        <p:nvSpPr>
          <p:cNvPr id="12" name="Text 10"/>
          <p:cNvSpPr/>
          <p:nvPr>
            <p:custDataLst>
              <p:tags r:id="rId10"/>
            </p:custDataLst>
          </p:nvPr>
        </p:nvSpPr>
        <p:spPr>
          <a:xfrm>
            <a:off x="10496371" y="2009180"/>
            <a:ext cx="272177" cy="340162"/>
          </a:xfrm>
          <a:prstGeom prst="rect">
            <a:avLst/>
          </a:prstGeom>
          <a:noFill/>
        </p:spPr>
        <p:txBody>
          <a:bodyPr wrap="none" lIns="0" tIns="0" rIns="0" bIns="0" rtlCol="0" anchor="t"/>
          <a:lstStyle/>
          <a:p>
            <a:pPr marL="0" indent="0" algn="l">
              <a:lnSpc>
                <a:spcPts val="3400"/>
              </a:lnSpc>
              <a:buNone/>
            </a:pPr>
            <a:r>
              <a:rPr lang="en-US" sz="210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2</a:t>
            </a:r>
            <a:endParaRPr lang="en-US" sz="2100" dirty="0"/>
          </a:p>
        </p:txBody>
      </p:sp>
      <p:sp>
        <p:nvSpPr>
          <p:cNvPr id="13" name="Text 11"/>
          <p:cNvSpPr/>
          <p:nvPr>
            <p:custDataLst>
              <p:tags r:id="rId11"/>
            </p:custDataLst>
          </p:nvPr>
        </p:nvSpPr>
        <p:spPr>
          <a:xfrm>
            <a:off x="7685842" y="2746177"/>
            <a:ext cx="3923586" cy="354330"/>
          </a:xfrm>
          <a:prstGeom prst="rect">
            <a:avLst/>
          </a:prstGeom>
          <a:noFill/>
        </p:spPr>
        <p:txBody>
          <a:bodyPr wrap="none" lIns="0" tIns="0" rIns="0" bIns="0" rtlCol="0" anchor="t"/>
          <a:lstStyle/>
          <a:p>
            <a:pPr marL="0" indent="0" algn="l">
              <a:lnSpc>
                <a:spcPts val="2750"/>
              </a:lnSpc>
              <a:buNone/>
            </a:pPr>
            <a:r>
              <a:rPr lang="en-US" sz="220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Mastering NLP Techniques</a:t>
            </a:r>
            <a:endParaRPr lang="en-US" sz="2200" dirty="0"/>
          </a:p>
        </p:txBody>
      </p:sp>
      <p:sp>
        <p:nvSpPr>
          <p:cNvPr id="14" name="Text 12"/>
          <p:cNvSpPr/>
          <p:nvPr>
            <p:custDataLst>
              <p:tags r:id="rId12"/>
            </p:custDataLst>
          </p:nvPr>
        </p:nvSpPr>
        <p:spPr>
          <a:xfrm>
            <a:off x="7685207" y="3301365"/>
            <a:ext cx="5893475" cy="725805"/>
          </a:xfrm>
          <a:prstGeom prst="rect">
            <a:avLst/>
          </a:prstGeom>
          <a:noFill/>
        </p:spPr>
        <p:txBody>
          <a:bodyPr wrap="squar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Acquire practical skills in Natural Language Processing (NLP) techniques essential for text classification.</a:t>
            </a:r>
            <a:endParaRPr lang="en-US" sz="1750" dirty="0"/>
          </a:p>
        </p:txBody>
      </p:sp>
      <p:sp>
        <p:nvSpPr>
          <p:cNvPr id="15" name="Shape 13"/>
          <p:cNvSpPr/>
          <p:nvPr>
            <p:custDataLst>
              <p:tags r:id="rId13"/>
            </p:custDataLst>
          </p:nvPr>
        </p:nvSpPr>
        <p:spPr>
          <a:xfrm>
            <a:off x="793790" y="5149572"/>
            <a:ext cx="6407944" cy="2403396"/>
          </a:xfrm>
          <a:prstGeom prst="roundRect">
            <a:avLst>
              <a:gd name="adj" fmla="val 6087"/>
            </a:avLst>
          </a:prstGeom>
          <a:solidFill>
            <a:srgbClr val="B88E23"/>
          </a:solidFill>
        </p:spPr>
      </p:sp>
      <p:sp>
        <p:nvSpPr>
          <p:cNvPr id="16" name="Shape 14"/>
          <p:cNvSpPr/>
          <p:nvPr>
            <p:custDataLst>
              <p:tags r:id="rId14"/>
            </p:custDataLst>
          </p:nvPr>
        </p:nvSpPr>
        <p:spPr>
          <a:xfrm>
            <a:off x="793790" y="5119092"/>
            <a:ext cx="6407944" cy="121920"/>
          </a:xfrm>
          <a:prstGeom prst="roundRect">
            <a:avLst>
              <a:gd name="adj" fmla="val 78139"/>
            </a:avLst>
          </a:prstGeom>
          <a:solidFill>
            <a:srgbClr val="B88E23"/>
          </a:solidFill>
        </p:spPr>
      </p:sp>
      <p:sp>
        <p:nvSpPr>
          <p:cNvPr id="17" name="Shape 15"/>
          <p:cNvSpPr/>
          <p:nvPr>
            <p:custDataLst>
              <p:tags r:id="rId15"/>
            </p:custDataLst>
          </p:nvPr>
        </p:nvSpPr>
        <p:spPr>
          <a:xfrm>
            <a:off x="3657540" y="4809411"/>
            <a:ext cx="680442" cy="680442"/>
          </a:xfrm>
          <a:prstGeom prst="roundRect">
            <a:avLst>
              <a:gd name="adj" fmla="val 134383"/>
            </a:avLst>
          </a:prstGeom>
          <a:solidFill>
            <a:srgbClr val="B88E23"/>
          </a:solidFill>
        </p:spPr>
      </p:sp>
      <p:sp>
        <p:nvSpPr>
          <p:cNvPr id="18" name="Text 16"/>
          <p:cNvSpPr/>
          <p:nvPr>
            <p:custDataLst>
              <p:tags r:id="rId16"/>
            </p:custDataLst>
          </p:nvPr>
        </p:nvSpPr>
        <p:spPr>
          <a:xfrm>
            <a:off x="3861614" y="4979551"/>
            <a:ext cx="272177" cy="340162"/>
          </a:xfrm>
          <a:prstGeom prst="rect">
            <a:avLst/>
          </a:prstGeom>
          <a:noFill/>
        </p:spPr>
        <p:txBody>
          <a:bodyPr wrap="none" lIns="0" tIns="0" rIns="0" bIns="0" rtlCol="0" anchor="t"/>
          <a:lstStyle/>
          <a:p>
            <a:pPr marL="0" indent="0" algn="l">
              <a:lnSpc>
                <a:spcPts val="3400"/>
              </a:lnSpc>
              <a:buNone/>
            </a:pPr>
            <a:r>
              <a:rPr lang="en-US" sz="210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3</a:t>
            </a:r>
            <a:endParaRPr lang="en-US" sz="2100" dirty="0"/>
          </a:p>
        </p:txBody>
      </p:sp>
      <p:sp>
        <p:nvSpPr>
          <p:cNvPr id="19" name="Text 17"/>
          <p:cNvSpPr/>
          <p:nvPr>
            <p:custDataLst>
              <p:tags r:id="rId17"/>
            </p:custDataLst>
          </p:nvPr>
        </p:nvSpPr>
        <p:spPr>
          <a:xfrm>
            <a:off x="1051084" y="5716548"/>
            <a:ext cx="3646765" cy="354330"/>
          </a:xfrm>
          <a:prstGeom prst="rect">
            <a:avLst/>
          </a:prstGeom>
          <a:noFill/>
        </p:spPr>
        <p:txBody>
          <a:bodyPr wrap="none" lIns="0" tIns="0" rIns="0" bIns="0" rtlCol="0" anchor="t"/>
          <a:lstStyle/>
          <a:p>
            <a:pPr marL="0" indent="0" algn="l">
              <a:lnSpc>
                <a:spcPts val="2750"/>
              </a:lnSpc>
              <a:buNone/>
            </a:pPr>
            <a:r>
              <a:rPr lang="en-US" sz="220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Applying ML/DL Models</a:t>
            </a:r>
            <a:endParaRPr lang="en-US" sz="2200" dirty="0"/>
          </a:p>
        </p:txBody>
      </p:sp>
      <p:sp>
        <p:nvSpPr>
          <p:cNvPr id="20" name="Text 18"/>
          <p:cNvSpPr/>
          <p:nvPr>
            <p:custDataLst>
              <p:tags r:id="rId18"/>
            </p:custDataLst>
          </p:nvPr>
        </p:nvSpPr>
        <p:spPr>
          <a:xfrm>
            <a:off x="1051084" y="6206966"/>
            <a:ext cx="5893356" cy="725805"/>
          </a:xfrm>
          <a:prstGeom prst="rect">
            <a:avLst/>
          </a:prstGeom>
          <a:noFill/>
        </p:spPr>
        <p:txBody>
          <a:bodyPr wrap="squar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Implement and evaluate state-of-the-art Machine Learning and Deep Learning models for detection tasks.</a:t>
            </a:r>
            <a:endParaRPr lang="en-US" sz="1750" dirty="0"/>
          </a:p>
        </p:txBody>
      </p:sp>
      <p:sp>
        <p:nvSpPr>
          <p:cNvPr id="21" name="Shape 19"/>
          <p:cNvSpPr/>
          <p:nvPr>
            <p:custDataLst>
              <p:tags r:id="rId19"/>
            </p:custDataLst>
          </p:nvPr>
        </p:nvSpPr>
        <p:spPr>
          <a:xfrm>
            <a:off x="7428548" y="5149572"/>
            <a:ext cx="6408063" cy="2403396"/>
          </a:xfrm>
          <a:prstGeom prst="roundRect">
            <a:avLst>
              <a:gd name="adj" fmla="val 6087"/>
            </a:avLst>
          </a:prstGeom>
          <a:solidFill>
            <a:srgbClr val="B88E23"/>
          </a:solidFill>
        </p:spPr>
      </p:sp>
      <p:sp>
        <p:nvSpPr>
          <p:cNvPr id="22" name="Shape 20"/>
          <p:cNvSpPr/>
          <p:nvPr>
            <p:custDataLst>
              <p:tags r:id="rId20"/>
            </p:custDataLst>
          </p:nvPr>
        </p:nvSpPr>
        <p:spPr>
          <a:xfrm>
            <a:off x="7428548" y="5119092"/>
            <a:ext cx="6408063" cy="121920"/>
          </a:xfrm>
          <a:prstGeom prst="roundRect">
            <a:avLst>
              <a:gd name="adj" fmla="val 78139"/>
            </a:avLst>
          </a:prstGeom>
          <a:solidFill>
            <a:srgbClr val="B88E23"/>
          </a:solidFill>
        </p:spPr>
      </p:sp>
      <p:sp>
        <p:nvSpPr>
          <p:cNvPr id="23" name="Shape 21"/>
          <p:cNvSpPr/>
          <p:nvPr>
            <p:custDataLst>
              <p:tags r:id="rId21"/>
            </p:custDataLst>
          </p:nvPr>
        </p:nvSpPr>
        <p:spPr>
          <a:xfrm>
            <a:off x="10292298" y="4809411"/>
            <a:ext cx="680442" cy="680442"/>
          </a:xfrm>
          <a:prstGeom prst="roundRect">
            <a:avLst>
              <a:gd name="adj" fmla="val 134383"/>
            </a:avLst>
          </a:prstGeom>
          <a:solidFill>
            <a:srgbClr val="B88E23"/>
          </a:solidFill>
        </p:spPr>
      </p:sp>
      <p:sp>
        <p:nvSpPr>
          <p:cNvPr id="24" name="Text 22"/>
          <p:cNvSpPr/>
          <p:nvPr>
            <p:custDataLst>
              <p:tags r:id="rId22"/>
            </p:custDataLst>
          </p:nvPr>
        </p:nvSpPr>
        <p:spPr>
          <a:xfrm>
            <a:off x="10496371" y="4979551"/>
            <a:ext cx="272177" cy="340162"/>
          </a:xfrm>
          <a:prstGeom prst="rect">
            <a:avLst/>
          </a:prstGeom>
          <a:noFill/>
        </p:spPr>
        <p:txBody>
          <a:bodyPr wrap="none" lIns="0" tIns="0" rIns="0" bIns="0" rtlCol="0" anchor="t"/>
          <a:lstStyle/>
          <a:p>
            <a:pPr marL="0" indent="0" algn="l">
              <a:lnSpc>
                <a:spcPts val="3400"/>
              </a:lnSpc>
              <a:buNone/>
            </a:pPr>
            <a:r>
              <a:rPr lang="en-US" sz="210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4</a:t>
            </a:r>
            <a:endParaRPr lang="en-US" sz="2100" dirty="0"/>
          </a:p>
        </p:txBody>
      </p:sp>
      <p:sp>
        <p:nvSpPr>
          <p:cNvPr id="25" name="Text 23"/>
          <p:cNvSpPr/>
          <p:nvPr>
            <p:custDataLst>
              <p:tags r:id="rId23"/>
            </p:custDataLst>
          </p:nvPr>
        </p:nvSpPr>
        <p:spPr>
          <a:xfrm>
            <a:off x="7685842" y="5716548"/>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Real-World Impact</a:t>
            </a:r>
            <a:endParaRPr lang="en-US" sz="2200" dirty="0"/>
          </a:p>
        </p:txBody>
      </p:sp>
      <p:sp>
        <p:nvSpPr>
          <p:cNvPr id="26" name="Text 24"/>
          <p:cNvSpPr/>
          <p:nvPr>
            <p:custDataLst>
              <p:tags r:id="rId24"/>
            </p:custDataLst>
          </p:nvPr>
        </p:nvSpPr>
        <p:spPr>
          <a:xfrm>
            <a:off x="7685842" y="6206966"/>
            <a:ext cx="5893475" cy="1088708"/>
          </a:xfrm>
          <a:prstGeom prst="rect">
            <a:avLst/>
          </a:prstGeom>
          <a:noFill/>
        </p:spPr>
        <p:txBody>
          <a:bodyPr wrap="squar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Explore the practical applications and societal benefits of automated fake news and sentiment detection systems.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191135"/>
            <a:ext cx="14630400" cy="8229600"/>
          </a:xfrm>
          <a:prstGeom prst="rect">
            <a:avLst/>
          </a:prstGeom>
          <a:solidFill>
            <a:srgbClr val="FFFDFA">
              <a:alpha val="85000"/>
            </a:srgbClr>
          </a:solidFill>
        </p:spPr>
      </p:sp>
      <p:sp>
        <p:nvSpPr>
          <p:cNvPr id="4" name="Text 1"/>
          <p:cNvSpPr/>
          <p:nvPr/>
        </p:nvSpPr>
        <p:spPr>
          <a:xfrm>
            <a:off x="788670" y="620673"/>
            <a:ext cx="13053060" cy="1943576"/>
          </a:xfrm>
          <a:prstGeom prst="rect">
            <a:avLst/>
          </a:prstGeom>
          <a:noFill/>
        </p:spPr>
        <p:txBody>
          <a:bodyPr wrap="square" lIns="0" tIns="0" rIns="0" bIns="0" rtlCol="0" anchor="t"/>
          <a:lstStyle/>
          <a:p>
            <a:pPr marL="0" indent="0" algn="ctr">
              <a:lnSpc>
                <a:spcPts val="7650"/>
              </a:lnSpc>
              <a:buNone/>
            </a:pPr>
            <a:r>
              <a:rPr lang="en-US" sz="61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The Problem: Navigating a Sea of Deception</a:t>
            </a:r>
            <a:endParaRPr lang="en-US" sz="6100" dirty="0"/>
          </a:p>
        </p:txBody>
      </p:sp>
      <p:sp>
        <p:nvSpPr>
          <p:cNvPr id="5" name="Text 2"/>
          <p:cNvSpPr/>
          <p:nvPr>
            <p:custDataLst>
              <p:tags r:id="rId2"/>
            </p:custDataLst>
          </p:nvPr>
        </p:nvSpPr>
        <p:spPr>
          <a:xfrm>
            <a:off x="2401014" y="3127534"/>
            <a:ext cx="3026807" cy="352068"/>
          </a:xfrm>
          <a:prstGeom prst="rect">
            <a:avLst/>
          </a:prstGeom>
          <a:noFill/>
        </p:spPr>
        <p:txBody>
          <a:bodyPr wrap="none" lIns="0" tIns="0" rIns="0" bIns="0" rtlCol="0" anchor="t"/>
          <a:lstStyle/>
          <a:p>
            <a:pPr marL="0" indent="0" algn="ctr">
              <a:lnSpc>
                <a:spcPts val="2750"/>
              </a:lnSpc>
              <a:buNone/>
            </a:pPr>
            <a:r>
              <a:rPr lang="en-US" sz="22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Rapid Dissemination</a:t>
            </a:r>
            <a:endParaRPr lang="en-US" sz="2200" dirty="0"/>
          </a:p>
        </p:txBody>
      </p:sp>
      <p:sp>
        <p:nvSpPr>
          <p:cNvPr id="6" name="Text 3"/>
          <p:cNvSpPr/>
          <p:nvPr>
            <p:custDataLst>
              <p:tags r:id="rId3"/>
            </p:custDataLst>
          </p:nvPr>
        </p:nvSpPr>
        <p:spPr>
          <a:xfrm>
            <a:off x="1100455" y="3704590"/>
            <a:ext cx="5939790" cy="1081405"/>
          </a:xfrm>
          <a:prstGeom prst="rect">
            <a:avLst/>
          </a:prstGeom>
          <a:noFill/>
        </p:spPr>
        <p:txBody>
          <a:bodyPr wrap="squar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
            </a:r>
            <a:r>
              <a:rPr lang="en-IN" altLang="en-US" sz="1750" dirty="0">
                <a:solidFill>
                  <a:srgbClr val="454240"/>
                </a:solidFill>
                <a:latin typeface="DM Sans" pitchFamily="34" charset="0"/>
                <a:ea typeface="DM Sans" pitchFamily="34" charset="-122"/>
                <a:cs typeface="DM Sans" pitchFamily="34" charset="-120"/>
              </a:rPr>
              <a:t>Fake news spreads rapidly on online platforms.</a:t>
            </a:r>
            <a:endParaRPr lang="en-US" altLang="en-US" sz="1750" dirty="0"/>
          </a:p>
        </p:txBody>
      </p:sp>
      <p:sp>
        <p:nvSpPr>
          <p:cNvPr id="7" name="Text 4"/>
          <p:cNvSpPr/>
          <p:nvPr>
            <p:custDataLst>
              <p:tags r:id="rId4"/>
            </p:custDataLst>
          </p:nvPr>
        </p:nvSpPr>
        <p:spPr>
          <a:xfrm>
            <a:off x="9314974" y="3127534"/>
            <a:ext cx="2817019" cy="352068"/>
          </a:xfrm>
          <a:prstGeom prst="rect">
            <a:avLst/>
          </a:prstGeom>
          <a:noFill/>
        </p:spPr>
        <p:txBody>
          <a:bodyPr wrap="none" lIns="0" tIns="0" rIns="0" bIns="0" rtlCol="0" anchor="t"/>
          <a:lstStyle/>
          <a:p>
            <a:pPr marL="0" indent="0" algn="ctr">
              <a:lnSpc>
                <a:spcPts val="2750"/>
              </a:lnSpc>
              <a:buNone/>
            </a:pPr>
            <a:r>
              <a:rPr lang="en-US" sz="22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Human Bias &amp; Lag</a:t>
            </a:r>
            <a:endParaRPr lang="en-US" sz="2200" dirty="0"/>
          </a:p>
        </p:txBody>
      </p:sp>
      <p:sp>
        <p:nvSpPr>
          <p:cNvPr id="8" name="Text 5"/>
          <p:cNvSpPr/>
          <p:nvPr>
            <p:custDataLst>
              <p:tags r:id="rId5"/>
            </p:custDataLst>
          </p:nvPr>
        </p:nvSpPr>
        <p:spPr>
          <a:xfrm>
            <a:off x="7597775" y="3703955"/>
            <a:ext cx="6251575" cy="1081405"/>
          </a:xfrm>
          <a:prstGeom prst="rect">
            <a:avLst/>
          </a:prstGeom>
          <a:noFill/>
        </p:spPr>
        <p:txBody>
          <a:bodyPr wrap="squar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
            </a:r>
            <a:r>
              <a:rPr lang="en-US" altLang="en-US" sz="1750" dirty="0">
                <a:solidFill>
                  <a:srgbClr val="454240"/>
                </a:solidFill>
                <a:latin typeface="DM Sans" pitchFamily="34" charset="0"/>
                <a:ea typeface="DM Sans" pitchFamily="34" charset="-122"/>
                <a:cs typeface="DM Sans" pitchFamily="34" charset="-120"/>
              </a:rPr>
              <a:t>Misguides people, influences opinions, and causes social/political issues.</a:t>
            </a:r>
            <a:r>
              <a:rPr lang="en-US" sz="1750" dirty="0">
                <a:solidFill>
                  <a:srgbClr val="454240"/>
                </a:solidFill>
                <a:latin typeface="DM Sans" pitchFamily="34" charset="0"/>
                <a:ea typeface="DM Sans" pitchFamily="34" charset="-122"/>
                <a:cs typeface="DM Sans" pitchFamily="34" charset="-120"/>
              </a:rPr>
              <a:t/>
            </a:r>
            <a:endParaRPr lang="en-US" sz="1750" dirty="0"/>
          </a:p>
        </p:txBody>
      </p:sp>
      <p:sp>
        <p:nvSpPr>
          <p:cNvPr id="9" name="Text 6"/>
          <p:cNvSpPr/>
          <p:nvPr/>
        </p:nvSpPr>
        <p:spPr>
          <a:xfrm>
            <a:off x="1126688" y="5580698"/>
            <a:ext cx="12715042" cy="1690211"/>
          </a:xfrm>
          <a:prstGeom prst="rect">
            <a:avLst/>
          </a:prstGeom>
          <a:noFill/>
        </p:spPr>
        <p:txBody>
          <a:bodyPr wrap="square" lIns="0" tIns="0" rIns="0" bIns="0" rtlCol="0" anchor="t"/>
          <a:lstStyle/>
          <a:p>
            <a:pPr marL="0" indent="0" algn="ctr">
              <a:lnSpc>
                <a:spcPts val="4400"/>
              </a:lnSpc>
              <a:buNone/>
            </a:pPr>
            <a:r>
              <a:rPr lang="en-US" sz="3500" dirty="0">
                <a:solidFill>
                  <a:srgbClr val="B88E23"/>
                </a:solidFill>
                <a:latin typeface="Libre Baskerville" panose="02000000000000000000" pitchFamily="34" charset="0"/>
                <a:ea typeface="Libre Baskerville" panose="02000000000000000000" pitchFamily="34" charset="-122"/>
                <a:cs typeface="Libre Baskerville" panose="02000000000000000000" pitchFamily="34" charset="-120"/>
              </a:rPr>
              <a:t>Our Goal:</a:t>
            </a:r>
            <a:r>
              <a:rPr lang="en-US" sz="35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
            </a:r>
            <a:r>
              <a:rPr lang="en-IN" altLang="en-US" sz="35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A</a:t>
            </a:r>
            <a:r>
              <a:rPr lang="en-US" sz="35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n automated system </a:t>
            </a:r>
            <a:r>
              <a:rPr lang="en-IN" altLang="en-US" sz="35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to detect</a:t>
            </a:r>
            <a:r>
              <a:rPr lang="en-US" sz="35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 fake news </a:t>
            </a:r>
            <a:r>
              <a:rPr lang="en-IN" altLang="en-US" sz="35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and analyze its sentiment(positive/negative/neutral).</a:t>
            </a:r>
            <a:endParaRPr lang="en-US" altLang="en-US" sz="3500" dirty="0"/>
          </a:p>
        </p:txBody>
      </p:sp>
      <p:sp>
        <p:nvSpPr>
          <p:cNvPr id="10" name="Shape 7"/>
          <p:cNvSpPr/>
          <p:nvPr/>
        </p:nvSpPr>
        <p:spPr>
          <a:xfrm>
            <a:off x="788670" y="5242679"/>
            <a:ext cx="30480" cy="2366248"/>
          </a:xfrm>
          <a:prstGeom prst="rect">
            <a:avLst/>
          </a:prstGeom>
          <a:solidFill>
            <a:srgbClr val="B88E23"/>
          </a:solid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0812" y="613886"/>
            <a:ext cx="8767763" cy="522922"/>
          </a:xfrm>
          <a:prstGeom prst="rect">
            <a:avLst/>
          </a:prstGeom>
          <a:noFill/>
        </p:spPr>
        <p:txBody>
          <a:bodyPr wrap="none" lIns="0" tIns="0" rIns="0" bIns="0" rtlCol="0" anchor="t"/>
          <a:lstStyle/>
          <a:p>
            <a:pPr marL="0" indent="0" algn="l">
              <a:lnSpc>
                <a:spcPts val="4100"/>
              </a:lnSpc>
              <a:buNone/>
            </a:pPr>
            <a:r>
              <a:rPr lang="en-US" sz="325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Our Methodology: A Five-Step Approach</a:t>
            </a:r>
            <a:endParaRPr lang="en-US" sz="3250" dirty="0"/>
          </a:p>
        </p:txBody>
      </p:sp>
      <p:pic>
        <p:nvPicPr>
          <p:cNvPr id="3" name="Image 0" descr="preencoded.png"/>
          <p:cNvPicPr>
            <a:picLocks noChangeAspect="1"/>
          </p:cNvPicPr>
          <p:nvPr/>
        </p:nvPicPr>
        <p:blipFill>
          <a:blip r:embed="rId1"/>
          <a:stretch>
            <a:fillRect/>
          </a:stretch>
        </p:blipFill>
        <p:spPr>
          <a:xfrm>
            <a:off x="780812" y="1471374"/>
            <a:ext cx="501968" cy="1143000"/>
          </a:xfrm>
          <a:prstGeom prst="rect">
            <a:avLst/>
          </a:prstGeom>
        </p:spPr>
      </p:pic>
      <p:sp>
        <p:nvSpPr>
          <p:cNvPr id="4" name="Text 1"/>
          <p:cNvSpPr/>
          <p:nvPr/>
        </p:nvSpPr>
        <p:spPr>
          <a:xfrm>
            <a:off x="1450062" y="1638657"/>
            <a:ext cx="3121700" cy="261461"/>
          </a:xfrm>
          <a:prstGeom prst="rect">
            <a:avLst/>
          </a:prstGeom>
          <a:noFill/>
        </p:spPr>
        <p:txBody>
          <a:bodyPr wrap="none" lIns="0" tIns="0" rIns="0" bIns="0" rtlCol="0" anchor="t"/>
          <a:lstStyle/>
          <a:p>
            <a:pPr marL="0" indent="0" algn="l">
              <a:lnSpc>
                <a:spcPts val="205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1. Data Collection &amp; Curation</a:t>
            </a:r>
            <a:endParaRPr lang="en-US" sz="1600" dirty="0"/>
          </a:p>
        </p:txBody>
      </p:sp>
      <p:sp>
        <p:nvSpPr>
          <p:cNvPr id="5" name="Text 2"/>
          <p:cNvSpPr/>
          <p:nvPr/>
        </p:nvSpPr>
        <p:spPr>
          <a:xfrm>
            <a:off x="1450062" y="2000488"/>
            <a:ext cx="12399526" cy="267653"/>
          </a:xfrm>
          <a:prstGeom prst="rect">
            <a:avLst/>
          </a:prstGeom>
          <a:noFill/>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Gathering diverse datasets of real and fake news articles, along with corresponding sentiment labels.</a:t>
            </a:r>
            <a:endParaRPr lang="en-US" sz="1300" dirty="0"/>
          </a:p>
        </p:txBody>
      </p:sp>
      <p:pic>
        <p:nvPicPr>
          <p:cNvPr id="6" name="Image 1" descr="preencoded.png"/>
          <p:cNvPicPr>
            <a:picLocks noChangeAspect="1"/>
          </p:cNvPicPr>
          <p:nvPr/>
        </p:nvPicPr>
        <p:blipFill>
          <a:blip r:embed="rId1"/>
          <a:stretch>
            <a:fillRect/>
          </a:stretch>
        </p:blipFill>
        <p:spPr>
          <a:xfrm>
            <a:off x="1031796" y="2642592"/>
            <a:ext cx="501968" cy="1143000"/>
          </a:xfrm>
          <a:prstGeom prst="rect">
            <a:avLst/>
          </a:prstGeom>
        </p:spPr>
      </p:pic>
      <p:sp>
        <p:nvSpPr>
          <p:cNvPr id="7" name="Text 3"/>
          <p:cNvSpPr/>
          <p:nvPr/>
        </p:nvSpPr>
        <p:spPr>
          <a:xfrm>
            <a:off x="1701046" y="2809875"/>
            <a:ext cx="4030980" cy="261461"/>
          </a:xfrm>
          <a:prstGeom prst="rect">
            <a:avLst/>
          </a:prstGeom>
          <a:noFill/>
        </p:spPr>
        <p:txBody>
          <a:bodyPr wrap="none" lIns="0" tIns="0" rIns="0" bIns="0" rtlCol="0" anchor="t"/>
          <a:lstStyle/>
          <a:p>
            <a:pPr marL="0" indent="0" algn="l">
              <a:lnSpc>
                <a:spcPts val="205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2. Comprehensive Text Preprocessing</a:t>
            </a:r>
            <a:endParaRPr lang="en-US" sz="1600" dirty="0"/>
          </a:p>
        </p:txBody>
      </p:sp>
      <p:sp>
        <p:nvSpPr>
          <p:cNvPr id="8" name="Text 4"/>
          <p:cNvSpPr/>
          <p:nvPr/>
        </p:nvSpPr>
        <p:spPr>
          <a:xfrm>
            <a:off x="1701046" y="3171706"/>
            <a:ext cx="12148542" cy="267653"/>
          </a:xfrm>
          <a:prstGeom prst="rect">
            <a:avLst/>
          </a:prstGeom>
          <a:noFill/>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Cleaning, tokenizing, and vectorizing text data to prepare it for model training, including stop word removal and stemming.</a:t>
            </a:r>
            <a:endParaRPr lang="en-US" sz="1300" dirty="0"/>
          </a:p>
        </p:txBody>
      </p:sp>
      <p:pic>
        <p:nvPicPr>
          <p:cNvPr id="9" name="Image 2" descr="preencoded.png"/>
          <p:cNvPicPr>
            <a:picLocks noChangeAspect="1"/>
          </p:cNvPicPr>
          <p:nvPr/>
        </p:nvPicPr>
        <p:blipFill>
          <a:blip r:embed="rId2"/>
          <a:stretch>
            <a:fillRect/>
          </a:stretch>
        </p:blipFill>
        <p:spPr>
          <a:xfrm>
            <a:off x="1282779" y="3813810"/>
            <a:ext cx="501968" cy="1143000"/>
          </a:xfrm>
          <a:prstGeom prst="rect">
            <a:avLst/>
          </a:prstGeom>
        </p:spPr>
      </p:pic>
      <p:sp>
        <p:nvSpPr>
          <p:cNvPr id="10" name="Text 5"/>
          <p:cNvSpPr/>
          <p:nvPr/>
        </p:nvSpPr>
        <p:spPr>
          <a:xfrm>
            <a:off x="1952030" y="3981093"/>
            <a:ext cx="3020378" cy="261461"/>
          </a:xfrm>
          <a:prstGeom prst="rect">
            <a:avLst/>
          </a:prstGeom>
          <a:noFill/>
        </p:spPr>
        <p:txBody>
          <a:bodyPr wrap="none" lIns="0" tIns="0" rIns="0" bIns="0" rtlCol="0" anchor="t"/>
          <a:lstStyle/>
          <a:p>
            <a:pPr marL="0" indent="0" algn="l">
              <a:lnSpc>
                <a:spcPts val="205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3. Advanced Model Building</a:t>
            </a:r>
            <a:endParaRPr lang="en-US" sz="1600" dirty="0"/>
          </a:p>
        </p:txBody>
      </p:sp>
      <p:sp>
        <p:nvSpPr>
          <p:cNvPr id="11" name="Text 6"/>
          <p:cNvSpPr/>
          <p:nvPr/>
        </p:nvSpPr>
        <p:spPr>
          <a:xfrm>
            <a:off x="1952030" y="4342924"/>
            <a:ext cx="11897558" cy="535305"/>
          </a:xfrm>
          <a:prstGeom prst="rect">
            <a:avLst/>
          </a:prstGeom>
          <a:noFill/>
        </p:spPr>
        <p:txBody>
          <a:bodyPr wrap="squar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Implementing and fine-tuning state-of-the-art Machine Learning (e.g., SVM, Naive Bayes) and Deep Learning (e.g., LSTMs, Transformers) models for classification.</a:t>
            </a:r>
            <a:endParaRPr lang="en-US" sz="1300" dirty="0"/>
          </a:p>
        </p:txBody>
      </p:sp>
      <p:pic>
        <p:nvPicPr>
          <p:cNvPr id="12" name="Image 3" descr="preencoded.png"/>
          <p:cNvPicPr>
            <a:picLocks noChangeAspect="1"/>
          </p:cNvPicPr>
          <p:nvPr/>
        </p:nvPicPr>
        <p:blipFill>
          <a:blip r:embed="rId2"/>
          <a:stretch>
            <a:fillRect/>
          </a:stretch>
        </p:blipFill>
        <p:spPr>
          <a:xfrm>
            <a:off x="1533763" y="5212794"/>
            <a:ext cx="501968" cy="1143000"/>
          </a:xfrm>
          <a:prstGeom prst="rect">
            <a:avLst/>
          </a:prstGeom>
        </p:spPr>
      </p:pic>
      <p:sp>
        <p:nvSpPr>
          <p:cNvPr id="13" name="Text 7"/>
          <p:cNvSpPr/>
          <p:nvPr/>
        </p:nvSpPr>
        <p:spPr>
          <a:xfrm>
            <a:off x="2203013" y="5380077"/>
            <a:ext cx="3304937" cy="261461"/>
          </a:xfrm>
          <a:prstGeom prst="rect">
            <a:avLst/>
          </a:prstGeom>
          <a:noFill/>
        </p:spPr>
        <p:txBody>
          <a:bodyPr wrap="none" lIns="0" tIns="0" rIns="0" bIns="0" rtlCol="0" anchor="t"/>
          <a:lstStyle/>
          <a:p>
            <a:pPr marL="0" indent="0" algn="l">
              <a:lnSpc>
                <a:spcPts val="205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4. Granular Sentiment Analysis</a:t>
            </a:r>
            <a:endParaRPr lang="en-US" sz="1600" dirty="0"/>
          </a:p>
        </p:txBody>
      </p:sp>
      <p:sp>
        <p:nvSpPr>
          <p:cNvPr id="14" name="Text 8"/>
          <p:cNvSpPr/>
          <p:nvPr/>
        </p:nvSpPr>
        <p:spPr>
          <a:xfrm>
            <a:off x="2203013" y="5741908"/>
            <a:ext cx="11646575" cy="535305"/>
          </a:xfrm>
          <a:prstGeom prst="rect">
            <a:avLst/>
          </a:prstGeom>
          <a:noFill/>
        </p:spPr>
        <p:txBody>
          <a:bodyPr wrap="squar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Integrating sentiment analysis techniques to determine the emotional tone (positive, negative, neutral) of news content, enhancing contextual understanding.</a:t>
            </a:r>
            <a:endParaRPr lang="en-US" sz="1300" dirty="0"/>
          </a:p>
        </p:txBody>
      </p:sp>
      <p:pic>
        <p:nvPicPr>
          <p:cNvPr id="15" name="Image 4" descr="preencoded.png"/>
          <p:cNvPicPr>
            <a:picLocks noChangeAspect="1"/>
          </p:cNvPicPr>
          <p:nvPr/>
        </p:nvPicPr>
        <p:blipFill>
          <a:blip r:embed="rId1"/>
          <a:stretch>
            <a:fillRect/>
          </a:stretch>
        </p:blipFill>
        <p:spPr>
          <a:xfrm>
            <a:off x="1282779" y="6611779"/>
            <a:ext cx="501968" cy="1143000"/>
          </a:xfrm>
          <a:prstGeom prst="rect">
            <a:avLst/>
          </a:prstGeom>
        </p:spPr>
      </p:pic>
      <p:sp>
        <p:nvSpPr>
          <p:cNvPr id="16" name="Text 9"/>
          <p:cNvSpPr/>
          <p:nvPr/>
        </p:nvSpPr>
        <p:spPr>
          <a:xfrm>
            <a:off x="1952030" y="6779062"/>
            <a:ext cx="5078254" cy="261461"/>
          </a:xfrm>
          <a:prstGeom prst="rect">
            <a:avLst/>
          </a:prstGeom>
          <a:noFill/>
        </p:spPr>
        <p:txBody>
          <a:bodyPr wrap="none" lIns="0" tIns="0" rIns="0" bIns="0" rtlCol="0" anchor="t"/>
          <a:lstStyle/>
          <a:p>
            <a:pPr marL="0" indent="0" algn="l">
              <a:lnSpc>
                <a:spcPts val="205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5. Rigorous Evaluation &amp; Results Dissemination</a:t>
            </a:r>
            <a:endParaRPr lang="en-US" sz="1600" dirty="0"/>
          </a:p>
        </p:txBody>
      </p:sp>
      <p:sp>
        <p:nvSpPr>
          <p:cNvPr id="17" name="Text 10"/>
          <p:cNvSpPr/>
          <p:nvPr/>
        </p:nvSpPr>
        <p:spPr>
          <a:xfrm>
            <a:off x="1952030" y="7140893"/>
            <a:ext cx="11897558" cy="267653"/>
          </a:xfrm>
          <a:prstGeom prst="rect">
            <a:avLst/>
          </a:prstGeom>
          <a:noFill/>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Evaluating model performance using metrics like accuracy, precision, recall, and F1-score, followed by clear presentation of findings.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80000"/>
            </a:srgbClr>
          </a:solidFill>
        </p:spPr>
      </p:sp>
      <p:sp>
        <p:nvSpPr>
          <p:cNvPr id="4" name="Text 1"/>
          <p:cNvSpPr/>
          <p:nvPr/>
        </p:nvSpPr>
        <p:spPr>
          <a:xfrm>
            <a:off x="793790" y="694492"/>
            <a:ext cx="13017222" cy="708779"/>
          </a:xfrm>
          <a:prstGeom prst="rect">
            <a:avLst/>
          </a:prstGeom>
          <a:noFill/>
        </p:spPr>
        <p:txBody>
          <a:bodyPr wrap="none" lIns="0" tIns="0" rIns="0" bIns="0" rtlCol="0" anchor="t"/>
          <a:lstStyle/>
          <a:p>
            <a:pPr marL="0" indent="0" algn="l">
              <a:lnSpc>
                <a:spcPts val="5550"/>
              </a:lnSpc>
              <a:buNone/>
            </a:pPr>
            <a:r>
              <a:rPr lang="en-US" sz="445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Our Proposed Solution: The Sentinel System</a:t>
            </a:r>
            <a:endParaRPr lang="en-US" sz="4450" dirty="0"/>
          </a:p>
        </p:txBody>
      </p:sp>
      <p:sp>
        <p:nvSpPr>
          <p:cNvPr id="5" name="Text 2"/>
          <p:cNvSpPr/>
          <p:nvPr/>
        </p:nvSpPr>
        <p:spPr>
          <a:xfrm>
            <a:off x="793790" y="1743432"/>
            <a:ext cx="13042821" cy="907018"/>
          </a:xfrm>
          <a:prstGeom prst="rect">
            <a:avLst/>
          </a:prstGeom>
          <a:noFill/>
        </p:spPr>
        <p:txBody>
          <a:bodyPr wrap="square" lIns="0" tIns="0" rIns="0" bIns="0" rtlCol="0" anchor="t"/>
          <a:lstStyle/>
          <a:p>
            <a:pPr marL="0" indent="0" algn="ctr">
              <a:lnSpc>
                <a:spcPts val="3550"/>
              </a:lnSpc>
              <a:buNone/>
            </a:pPr>
            <a:r>
              <a:rPr lang="en-US" sz="2200" b="1" dirty="0">
                <a:solidFill>
                  <a:srgbClr val="FFFFFF"/>
                </a:solidFill>
                <a:latin typeface="DM Sans" pitchFamily="34" charset="0"/>
                <a:ea typeface="DM Sans" pitchFamily="34" charset="-122"/>
                <a:cs typeface="DM Sans" pitchFamily="34" charset="-120"/>
              </a:rPr>
              <a:t>The Sentinel System</a:t>
            </a:r>
            <a:r>
              <a:rPr lang="en-US" sz="2200" dirty="0">
                <a:solidFill>
                  <a:srgbClr val="FFFFFF"/>
                </a:solidFill>
                <a:latin typeface="DM Sans" pitchFamily="34" charset="0"/>
                <a:ea typeface="DM Sans" pitchFamily="34" charset="-122"/>
                <a:cs typeface="DM Sans" pitchFamily="34" charset="-120"/>
              </a:rPr>
              <a:t> is an end-to-end platform designed to combat misinformation and provide deeper insights into news content.</a:t>
            </a:r>
            <a:endParaRPr lang="en-US" sz="2200" dirty="0"/>
          </a:p>
        </p:txBody>
      </p:sp>
      <p:sp>
        <p:nvSpPr>
          <p:cNvPr id="6" name="Text 3"/>
          <p:cNvSpPr/>
          <p:nvPr/>
        </p:nvSpPr>
        <p:spPr>
          <a:xfrm>
            <a:off x="1556861" y="3132415"/>
            <a:ext cx="4718447" cy="354330"/>
          </a:xfrm>
          <a:prstGeom prst="rect">
            <a:avLst/>
          </a:prstGeom>
          <a:noFill/>
        </p:spPr>
        <p:txBody>
          <a:bodyPr wrap="none" lIns="0" tIns="0" rIns="0" bIns="0" rtlCol="0" anchor="t"/>
          <a:lstStyle/>
          <a:p>
            <a:pPr marL="0" indent="0" algn="ctr">
              <a:lnSpc>
                <a:spcPts val="2750"/>
              </a:lnSpc>
              <a:buNone/>
            </a:pPr>
            <a:r>
              <a:rPr lang="en-US" sz="220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Automated Fake News Detection</a:t>
            </a:r>
            <a:endParaRPr lang="en-US" sz="2200" dirty="0"/>
          </a:p>
        </p:txBody>
      </p:sp>
      <p:sp>
        <p:nvSpPr>
          <p:cNvPr id="7" name="Text 4"/>
          <p:cNvSpPr/>
          <p:nvPr/>
        </p:nvSpPr>
        <p:spPr>
          <a:xfrm>
            <a:off x="793790" y="3713559"/>
            <a:ext cx="6244709" cy="725805"/>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FFFFFF"/>
                </a:solidFill>
                <a:latin typeface="DM Sans" pitchFamily="34" charset="0"/>
                <a:ea typeface="DM Sans" pitchFamily="34" charset="-122"/>
                <a:cs typeface="DM Sans" pitchFamily="34" charset="-120"/>
              </a:rPr>
              <a:t>Utilizes advanced NLP and ML/DL models to automatically classify news as real or fake.</a:t>
            </a:r>
            <a:endParaRPr lang="en-US" sz="1750" dirty="0"/>
          </a:p>
        </p:txBody>
      </p:sp>
      <p:sp>
        <p:nvSpPr>
          <p:cNvPr id="8" name="Text 5"/>
          <p:cNvSpPr/>
          <p:nvPr/>
        </p:nvSpPr>
        <p:spPr>
          <a:xfrm>
            <a:off x="793750" y="4518660"/>
            <a:ext cx="6244590" cy="1113790"/>
          </a:xfrm>
          <a:prstGeom prst="rect">
            <a:avLst/>
          </a:prstGeom>
          <a:noFill/>
        </p:spPr>
        <p:txBody>
          <a:bodyPr wrap="square" lIns="0" tIns="0" rIns="0" bIns="0" rtlCol="0" anchor="t"/>
          <a:lstStyle/>
          <a:p>
            <a:pPr marL="342900" indent="-342900" algn="l">
              <a:lnSpc>
                <a:spcPts val="2850"/>
              </a:lnSpc>
              <a:buSzPct val="100000"/>
              <a:buChar char="•"/>
            </a:pPr>
            <a:r>
              <a:rPr lang="en-US" altLang="en-US" sz="1750" dirty="0">
                <a:solidFill>
                  <a:srgbClr val="FFFFFF"/>
                </a:solidFill>
                <a:latin typeface="DM Sans" pitchFamily="34" charset="0"/>
                <a:ea typeface="DM Sans" pitchFamily="34" charset="-122"/>
                <a:cs typeface="DM Sans" pitchFamily="34" charset="-120"/>
              </a:rPr>
              <a:t>Preprocess data (tokenization, stopword removal, stemming).</a:t>
            </a:r>
            <a:endParaRPr lang="en-US" altLang="en-US" sz="1750" dirty="0">
              <a:solidFill>
                <a:srgbClr val="FFFFFF"/>
              </a:solidFill>
              <a:latin typeface="DM Sans" pitchFamily="34" charset="0"/>
              <a:ea typeface="DM Sans" pitchFamily="34" charset="-122"/>
              <a:cs typeface="DM Sans" pitchFamily="34" charset="-120"/>
            </a:endParaRPr>
          </a:p>
          <a:p>
            <a:pPr indent="0" algn="l">
              <a:lnSpc>
                <a:spcPts val="2850"/>
              </a:lnSpc>
              <a:buSzPct val="100000"/>
              <a:buNone/>
            </a:pPr>
            <a:endParaRPr lang="en-US" sz="1750" dirty="0"/>
          </a:p>
        </p:txBody>
      </p:sp>
      <p:sp>
        <p:nvSpPr>
          <p:cNvPr id="9" name="Text 6"/>
          <p:cNvSpPr/>
          <p:nvPr/>
        </p:nvSpPr>
        <p:spPr>
          <a:xfrm>
            <a:off x="8541187" y="3132415"/>
            <a:ext cx="4361378" cy="354330"/>
          </a:xfrm>
          <a:prstGeom prst="rect">
            <a:avLst/>
          </a:prstGeom>
          <a:noFill/>
        </p:spPr>
        <p:txBody>
          <a:bodyPr wrap="none" lIns="0" tIns="0" rIns="0" bIns="0" rtlCol="0" anchor="t"/>
          <a:lstStyle/>
          <a:p>
            <a:pPr marL="0" indent="0" algn="ctr">
              <a:lnSpc>
                <a:spcPts val="2750"/>
              </a:lnSpc>
              <a:buNone/>
            </a:pPr>
            <a:r>
              <a:rPr lang="en-US" sz="220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Integrated Sentiment Analysis</a:t>
            </a:r>
            <a:endParaRPr lang="en-US" sz="2200" dirty="0"/>
          </a:p>
        </p:txBody>
      </p:sp>
      <p:sp>
        <p:nvSpPr>
          <p:cNvPr id="10" name="Text 7"/>
          <p:cNvSpPr/>
          <p:nvPr/>
        </p:nvSpPr>
        <p:spPr>
          <a:xfrm>
            <a:off x="7599521" y="3713559"/>
            <a:ext cx="6244709" cy="725805"/>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FFFFFF"/>
                </a:solidFill>
                <a:latin typeface="DM Sans" pitchFamily="34" charset="0"/>
                <a:ea typeface="DM Sans" pitchFamily="34" charset="-122"/>
                <a:cs typeface="DM Sans" pitchFamily="34" charset="-120"/>
              </a:rPr>
              <a:t>Determines the underlying sentiment (positive, negative, neutral) of news articles.</a:t>
            </a:r>
            <a:endParaRPr lang="en-US" sz="1750" dirty="0"/>
          </a:p>
        </p:txBody>
      </p:sp>
      <p:sp>
        <p:nvSpPr>
          <p:cNvPr id="11" name="Text 8"/>
          <p:cNvSpPr/>
          <p:nvPr/>
        </p:nvSpPr>
        <p:spPr>
          <a:xfrm>
            <a:off x="7599521" y="4518660"/>
            <a:ext cx="6244709" cy="725805"/>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FFFFFF"/>
                </a:solidFill>
                <a:latin typeface="DM Sans" pitchFamily="34" charset="0"/>
                <a:ea typeface="DM Sans" pitchFamily="34" charset="-122"/>
                <a:cs typeface="DM Sans" pitchFamily="34" charset="-120"/>
              </a:rPr>
              <a:t>Provides a richer understanding of public perception and emotional impact.</a:t>
            </a:r>
            <a:endParaRPr lang="en-US" sz="1750" dirty="0"/>
          </a:p>
        </p:txBody>
      </p:sp>
      <p:sp>
        <p:nvSpPr>
          <p:cNvPr id="12" name="Text 9"/>
          <p:cNvSpPr/>
          <p:nvPr/>
        </p:nvSpPr>
        <p:spPr>
          <a:xfrm>
            <a:off x="1133951" y="5919073"/>
            <a:ext cx="12702659" cy="1275874"/>
          </a:xfrm>
          <a:prstGeom prst="rect">
            <a:avLst/>
          </a:prstGeom>
          <a:noFill/>
        </p:spPr>
        <p:txBody>
          <a:bodyPr wrap="square" lIns="0" tIns="0" rIns="0" bIns="0" rtlCol="0" anchor="t"/>
          <a:lstStyle/>
          <a:p>
            <a:pPr marL="0" indent="0" algn="ctr">
              <a:lnSpc>
                <a:spcPts val="3300"/>
              </a:lnSpc>
              <a:buNone/>
            </a:pPr>
            <a:r>
              <a:rPr lang="en-IN" altLang="en-US" sz="265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
            </a:r>
            <a:r>
              <a:rPr lang="en-US" altLang="en-US" sz="265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Use Natural Language Processing (NLP) + Machine Learning for classification.</a:t>
            </a:r>
            <a:endParaRPr lang="en-US" altLang="en-US" sz="265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endParaRPr>
          </a:p>
        </p:txBody>
      </p:sp>
      <p:sp>
        <p:nvSpPr>
          <p:cNvPr id="13" name="Shape 10"/>
          <p:cNvSpPr/>
          <p:nvPr/>
        </p:nvSpPr>
        <p:spPr>
          <a:xfrm>
            <a:off x="793790" y="5578912"/>
            <a:ext cx="30480" cy="1956197"/>
          </a:xfrm>
          <a:prstGeom prst="rect">
            <a:avLst/>
          </a:prstGeom>
          <a:solidFill>
            <a:srgbClr val="B88E23"/>
          </a:solid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74370"/>
            <a:ext cx="5145405" cy="460772"/>
          </a:xfrm>
          <a:prstGeom prst="rect">
            <a:avLst/>
          </a:prstGeom>
          <a:noFill/>
        </p:spPr>
        <p:txBody>
          <a:bodyPr wrap="none" lIns="0" tIns="0" rIns="0" bIns="0" rtlCol="0" anchor="t"/>
          <a:lstStyle/>
          <a:p>
            <a:pPr marL="0" indent="0" algn="l">
              <a:lnSpc>
                <a:spcPts val="3600"/>
              </a:lnSpc>
              <a:buNone/>
            </a:pPr>
            <a:r>
              <a:rPr lang="en-US" sz="29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Key Results &amp; Performance</a:t>
            </a:r>
            <a:endParaRPr lang="en-US" sz="2900" dirty="0"/>
          </a:p>
        </p:txBody>
      </p:sp>
      <p:sp>
        <p:nvSpPr>
          <p:cNvPr id="3" name="Text 1"/>
          <p:cNvSpPr/>
          <p:nvPr/>
        </p:nvSpPr>
        <p:spPr>
          <a:xfrm>
            <a:off x="793790" y="1429941"/>
            <a:ext cx="13042821" cy="235744"/>
          </a:xfrm>
          <a:prstGeom prst="rect">
            <a:avLst/>
          </a:prstGeom>
          <a:noFill/>
        </p:spPr>
        <p:txBody>
          <a:bodyPr wrap="none" lIns="0" tIns="0" rIns="0" bIns="0" rtlCol="0" anchor="t"/>
          <a:lstStyle/>
          <a:p>
            <a:pPr marL="0" indent="0" algn="l">
              <a:lnSpc>
                <a:spcPts val="1850"/>
              </a:lnSpc>
              <a:buNone/>
            </a:pPr>
            <a:r>
              <a:rPr lang="en-US" sz="1150" dirty="0">
                <a:solidFill>
                  <a:srgbClr val="454240"/>
                </a:solidFill>
                <a:latin typeface="DM Sans" pitchFamily="34" charset="0"/>
                <a:ea typeface="DM Sans" pitchFamily="34" charset="-122"/>
                <a:cs typeface="DM Sans" pitchFamily="34" charset="-120"/>
              </a:rPr>
              <a:t>Our rigorous testing and evaluation demonstrate the system's robust capabilities:</a:t>
            </a:r>
            <a:endParaRPr lang="en-US" sz="1150" dirty="0"/>
          </a:p>
        </p:txBody>
      </p:sp>
      <p:pic>
        <p:nvPicPr>
          <p:cNvPr id="4" name="Image 0" descr="preencoded.png"/>
          <p:cNvPicPr>
            <a:picLocks noChangeAspect="1"/>
          </p:cNvPicPr>
          <p:nvPr/>
        </p:nvPicPr>
        <p:blipFill>
          <a:blip r:embed="rId1"/>
          <a:stretch>
            <a:fillRect/>
          </a:stretch>
        </p:blipFill>
        <p:spPr>
          <a:xfrm>
            <a:off x="793790" y="1831538"/>
            <a:ext cx="8477726" cy="4747498"/>
          </a:xfrm>
          <a:prstGeom prst="rect">
            <a:avLst/>
          </a:prstGeom>
        </p:spPr>
      </p:pic>
      <p:sp>
        <p:nvSpPr>
          <p:cNvPr id="5" name="Text 2"/>
          <p:cNvSpPr/>
          <p:nvPr/>
        </p:nvSpPr>
        <p:spPr>
          <a:xfrm>
            <a:off x="793790" y="6744891"/>
            <a:ext cx="13042821" cy="235744"/>
          </a:xfrm>
          <a:prstGeom prst="rect">
            <a:avLst/>
          </a:prstGeom>
          <a:noFill/>
        </p:spPr>
        <p:txBody>
          <a:bodyPr wrap="none" lIns="0" tIns="0" rIns="0" bIns="0" rtlCol="0" anchor="t"/>
          <a:lstStyle/>
          <a:p>
            <a:pPr marL="342900" indent="-342900" algn="l">
              <a:lnSpc>
                <a:spcPts val="1850"/>
              </a:lnSpc>
              <a:buSzPct val="100000"/>
              <a:buChar char="•"/>
            </a:pPr>
            <a:r>
              <a:rPr lang="en-US" sz="1150" b="1" dirty="0">
                <a:solidFill>
                  <a:srgbClr val="454240"/>
                </a:solidFill>
                <a:latin typeface="DM Sans" pitchFamily="34" charset="0"/>
                <a:ea typeface="DM Sans" pitchFamily="34" charset="-122"/>
                <a:cs typeface="DM Sans" pitchFamily="34" charset="-120"/>
              </a:rPr>
              <a:t>High Classification Accuracy:</a:t>
            </a:r>
            <a:r>
              <a:rPr lang="en-US" sz="1150" dirty="0">
                <a:solidFill>
                  <a:srgbClr val="454240"/>
                </a:solidFill>
                <a:latin typeface="DM Sans" pitchFamily="34" charset="0"/>
                <a:ea typeface="DM Sans" pitchFamily="34" charset="-122"/>
                <a:cs typeface="DM Sans" pitchFamily="34" charset="-120"/>
              </a:rPr>
              <a:t> Achieved an accuracy of </a:t>
            </a:r>
            <a:r>
              <a:rPr lang="en-US" sz="1150" b="1" dirty="0">
                <a:solidFill>
                  <a:srgbClr val="B88E23"/>
                </a:solidFill>
                <a:latin typeface="DM Sans" pitchFamily="34" charset="0"/>
                <a:ea typeface="DM Sans" pitchFamily="34" charset="-122"/>
                <a:cs typeface="DM Sans" pitchFamily="34" charset="-120"/>
              </a:rPr>
              <a:t>92%</a:t>
            </a:r>
            <a:r>
              <a:rPr lang="en-US" sz="1150" dirty="0">
                <a:solidFill>
                  <a:srgbClr val="454240"/>
                </a:solidFill>
                <a:latin typeface="DM Sans" pitchFamily="34" charset="0"/>
                <a:ea typeface="DM Sans" pitchFamily="34" charset="-122"/>
                <a:cs typeface="DM Sans" pitchFamily="34" charset="-120"/>
              </a:rPr>
              <a:t> in classifying news articles as fake or real, significantly outperforming baseline models.</a:t>
            </a:r>
            <a:endParaRPr lang="en-US" sz="1150" dirty="0"/>
          </a:p>
        </p:txBody>
      </p:sp>
      <p:sp>
        <p:nvSpPr>
          <p:cNvPr id="6" name="Text 3"/>
          <p:cNvSpPr/>
          <p:nvPr/>
        </p:nvSpPr>
        <p:spPr>
          <a:xfrm>
            <a:off x="793790" y="7032188"/>
            <a:ext cx="13042821" cy="235744"/>
          </a:xfrm>
          <a:prstGeom prst="rect">
            <a:avLst/>
          </a:prstGeom>
          <a:noFill/>
        </p:spPr>
        <p:txBody>
          <a:bodyPr wrap="none" lIns="0" tIns="0" rIns="0" bIns="0" rtlCol="0" anchor="t"/>
          <a:lstStyle/>
          <a:p>
            <a:pPr marL="342900" indent="-342900" algn="l">
              <a:lnSpc>
                <a:spcPts val="1850"/>
              </a:lnSpc>
              <a:buSzPct val="100000"/>
              <a:buChar char="•"/>
            </a:pPr>
            <a:r>
              <a:rPr lang="en-US" sz="1150" b="1" dirty="0">
                <a:solidFill>
                  <a:srgbClr val="454240"/>
                </a:solidFill>
                <a:latin typeface="DM Sans" pitchFamily="34" charset="0"/>
                <a:ea typeface="DM Sans" pitchFamily="34" charset="-122"/>
                <a:cs typeface="DM Sans" pitchFamily="34" charset="-120"/>
              </a:rPr>
              <a:t>Detailed Sentiment Graphs:</a:t>
            </a:r>
            <a:r>
              <a:rPr lang="en-US" sz="1150" dirty="0">
                <a:solidFill>
                  <a:srgbClr val="454240"/>
                </a:solidFill>
                <a:latin typeface="DM Sans" pitchFamily="34" charset="0"/>
                <a:ea typeface="DM Sans" pitchFamily="34" charset="-122"/>
                <a:cs typeface="DM Sans" pitchFamily="34" charset="-120"/>
              </a:rPr>
              <a:t> The system successfully generates intuitive graphs showing sentiment distribution across various news topics, enabling deeper analysis.</a:t>
            </a:r>
            <a:endParaRPr lang="en-US" sz="1150" dirty="0"/>
          </a:p>
        </p:txBody>
      </p:sp>
      <p:sp>
        <p:nvSpPr>
          <p:cNvPr id="7" name="Text 4"/>
          <p:cNvSpPr/>
          <p:nvPr/>
        </p:nvSpPr>
        <p:spPr>
          <a:xfrm>
            <a:off x="793790" y="7319486"/>
            <a:ext cx="13042821" cy="235744"/>
          </a:xfrm>
          <a:prstGeom prst="rect">
            <a:avLst/>
          </a:prstGeom>
          <a:noFill/>
        </p:spPr>
        <p:txBody>
          <a:bodyPr wrap="none" lIns="0" tIns="0" rIns="0" bIns="0" rtlCol="0" anchor="t"/>
          <a:lstStyle/>
          <a:p>
            <a:pPr marL="342900" indent="-342900" algn="l">
              <a:lnSpc>
                <a:spcPts val="1850"/>
              </a:lnSpc>
              <a:buSzPct val="100000"/>
              <a:buChar char="•"/>
            </a:pPr>
            <a:r>
              <a:rPr lang="en-US" sz="1150" b="1" dirty="0">
                <a:solidFill>
                  <a:srgbClr val="454240"/>
                </a:solidFill>
                <a:latin typeface="DM Sans" pitchFamily="34" charset="0"/>
                <a:ea typeface="DM Sans" pitchFamily="34" charset="-122"/>
                <a:cs typeface="DM Sans" pitchFamily="34" charset="-120"/>
              </a:rPr>
              <a:t>Real-Time Detection Capability:</a:t>
            </a:r>
            <a:r>
              <a:rPr lang="en-US" sz="1150" dirty="0">
                <a:solidFill>
                  <a:srgbClr val="454240"/>
                </a:solidFill>
                <a:latin typeface="DM Sans" pitchFamily="34" charset="0"/>
                <a:ea typeface="DM Sans" pitchFamily="34" charset="-122"/>
                <a:cs typeface="DM Sans" pitchFamily="34" charset="-120"/>
              </a:rPr>
              <a:t> Our architecture supports near real-time processing of incoming news streams, making it suitable for dynamic environments like social media feeds.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83982" y="1374815"/>
            <a:ext cx="8062436" cy="708779"/>
          </a:xfrm>
          <a:prstGeom prst="rect">
            <a:avLst/>
          </a:prstGeom>
          <a:noFill/>
        </p:spPr>
        <p:txBody>
          <a:bodyPr wrap="none" lIns="0" tIns="0" rIns="0" bIns="0" rtlCol="0" anchor="t"/>
          <a:lstStyle/>
          <a:p>
            <a:pPr marL="0" indent="0" algn="ctr">
              <a:lnSpc>
                <a:spcPts val="5550"/>
              </a:lnSpc>
              <a:buNone/>
            </a:pPr>
            <a:r>
              <a:rPr lang="en-US" sz="445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Innovation &amp; Creative Edge</a:t>
            </a:r>
            <a:endParaRPr lang="en-US" sz="4450" dirty="0"/>
          </a:p>
        </p:txBody>
      </p:sp>
      <p:pic>
        <p:nvPicPr>
          <p:cNvPr id="3" name="Image 0" descr="preencoded.png"/>
          <p:cNvPicPr>
            <a:picLocks noChangeAspect="1"/>
          </p:cNvPicPr>
          <p:nvPr/>
        </p:nvPicPr>
        <p:blipFill>
          <a:blip r:embed="rId1"/>
          <a:stretch>
            <a:fillRect/>
          </a:stretch>
        </p:blipFill>
        <p:spPr>
          <a:xfrm>
            <a:off x="793790" y="2537222"/>
            <a:ext cx="566976" cy="566976"/>
          </a:xfrm>
          <a:prstGeom prst="rect">
            <a:avLst/>
          </a:prstGeom>
        </p:spPr>
      </p:pic>
      <p:sp>
        <p:nvSpPr>
          <p:cNvPr id="4" name="Text 1"/>
          <p:cNvSpPr/>
          <p:nvPr/>
        </p:nvSpPr>
        <p:spPr>
          <a:xfrm>
            <a:off x="793790" y="3387685"/>
            <a:ext cx="3790712" cy="354330"/>
          </a:xfrm>
          <a:prstGeom prst="rect">
            <a:avLst/>
          </a:prstGeom>
          <a:noFill/>
        </p:spPr>
        <p:txBody>
          <a:bodyPr wrap="none" lIns="0" tIns="0" rIns="0" bIns="0" rtlCol="0" anchor="t"/>
          <a:lstStyle/>
          <a:p>
            <a:pPr marL="0" indent="0" algn="l">
              <a:lnSpc>
                <a:spcPts val="2750"/>
              </a:lnSpc>
              <a:buNone/>
            </a:pPr>
            <a:r>
              <a:rPr lang="en-US" sz="22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Dual-Purpose Intelligence</a:t>
            </a:r>
            <a:endParaRPr lang="en-US" sz="2200" dirty="0"/>
          </a:p>
        </p:txBody>
      </p:sp>
      <p:sp>
        <p:nvSpPr>
          <p:cNvPr id="5" name="Text 2"/>
          <p:cNvSpPr/>
          <p:nvPr/>
        </p:nvSpPr>
        <p:spPr>
          <a:xfrm>
            <a:off x="793790" y="3878104"/>
            <a:ext cx="4158615" cy="1814513"/>
          </a:xfrm>
          <a:prstGeom prst="rect">
            <a:avLst/>
          </a:prstGeom>
          <a:noFill/>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We uniquely integrate both fake news detection and sentiment analysis into a single, cohesive system, providing a holistic understanding of online narratives.</a:t>
            </a:r>
            <a:endParaRPr lang="en-US" sz="1750" dirty="0"/>
          </a:p>
        </p:txBody>
      </p:sp>
      <p:pic>
        <p:nvPicPr>
          <p:cNvPr id="6" name="Image 1" descr="preencoded.png"/>
          <p:cNvPicPr>
            <a:picLocks noChangeAspect="1"/>
          </p:cNvPicPr>
          <p:nvPr/>
        </p:nvPicPr>
        <p:blipFill>
          <a:blip r:embed="rId2"/>
          <a:stretch>
            <a:fillRect/>
          </a:stretch>
        </p:blipFill>
        <p:spPr>
          <a:xfrm>
            <a:off x="5235893" y="2537222"/>
            <a:ext cx="566976" cy="566976"/>
          </a:xfrm>
          <a:prstGeom prst="rect">
            <a:avLst/>
          </a:prstGeom>
        </p:spPr>
      </p:pic>
      <p:sp>
        <p:nvSpPr>
          <p:cNvPr id="7" name="Text 3"/>
          <p:cNvSpPr/>
          <p:nvPr/>
        </p:nvSpPr>
        <p:spPr>
          <a:xfrm>
            <a:off x="5235893" y="3387685"/>
            <a:ext cx="4065032" cy="354330"/>
          </a:xfrm>
          <a:prstGeom prst="rect">
            <a:avLst/>
          </a:prstGeom>
          <a:noFill/>
        </p:spPr>
        <p:txBody>
          <a:bodyPr wrap="none" lIns="0" tIns="0" rIns="0" bIns="0" rtlCol="0" anchor="t"/>
          <a:lstStyle/>
          <a:p>
            <a:pPr marL="0" indent="0" algn="l">
              <a:lnSpc>
                <a:spcPts val="2750"/>
              </a:lnSpc>
              <a:buNone/>
            </a:pPr>
            <a:r>
              <a:rPr lang="en-US" sz="22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Cutting-Edge AI Integration</a:t>
            </a:r>
            <a:endParaRPr lang="en-US" sz="2200" dirty="0"/>
          </a:p>
        </p:txBody>
      </p:sp>
      <p:sp>
        <p:nvSpPr>
          <p:cNvPr id="8" name="Text 4"/>
          <p:cNvSpPr/>
          <p:nvPr/>
        </p:nvSpPr>
        <p:spPr>
          <a:xfrm>
            <a:off x="5235893" y="3878104"/>
            <a:ext cx="4158615" cy="1814513"/>
          </a:xfrm>
          <a:prstGeom prst="rect">
            <a:avLst/>
          </a:prstGeom>
          <a:noFill/>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Leveraging advanced Natural Language Processing models, including transformer-based architectures like BERT, for superior contextual understanding and classification.</a:t>
            </a:r>
            <a:endParaRPr lang="en-US" sz="1750" dirty="0"/>
          </a:p>
        </p:txBody>
      </p:sp>
      <p:pic>
        <p:nvPicPr>
          <p:cNvPr id="9" name="Image 2" descr="preencoded.png"/>
          <p:cNvPicPr>
            <a:picLocks noChangeAspect="1"/>
          </p:cNvPicPr>
          <p:nvPr/>
        </p:nvPicPr>
        <p:blipFill>
          <a:blip r:embed="rId3"/>
          <a:stretch>
            <a:fillRect/>
          </a:stretch>
        </p:blipFill>
        <p:spPr>
          <a:xfrm>
            <a:off x="9677995" y="2537222"/>
            <a:ext cx="566976" cy="566976"/>
          </a:xfrm>
          <a:prstGeom prst="rect">
            <a:avLst/>
          </a:prstGeom>
        </p:spPr>
      </p:pic>
      <p:sp>
        <p:nvSpPr>
          <p:cNvPr id="10" name="Text 5"/>
          <p:cNvSpPr/>
          <p:nvPr/>
        </p:nvSpPr>
        <p:spPr>
          <a:xfrm>
            <a:off x="9677995" y="3387685"/>
            <a:ext cx="3625215" cy="354330"/>
          </a:xfrm>
          <a:prstGeom prst="rect">
            <a:avLst/>
          </a:prstGeom>
          <a:noFill/>
        </p:spPr>
        <p:txBody>
          <a:bodyPr wrap="none" lIns="0" tIns="0" rIns="0" bIns="0" rtlCol="0" anchor="t"/>
          <a:lstStyle/>
          <a:p>
            <a:pPr marL="0" indent="0" algn="l">
              <a:lnSpc>
                <a:spcPts val="2750"/>
              </a:lnSpc>
              <a:buNone/>
            </a:pPr>
            <a:r>
              <a:rPr lang="en-US" sz="22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Actionable Visualizations</a:t>
            </a:r>
            <a:endParaRPr lang="en-US" sz="2200" dirty="0"/>
          </a:p>
        </p:txBody>
      </p:sp>
      <p:sp>
        <p:nvSpPr>
          <p:cNvPr id="11" name="Text 6"/>
          <p:cNvSpPr/>
          <p:nvPr/>
        </p:nvSpPr>
        <p:spPr>
          <a:xfrm>
            <a:off x="9677995" y="3878104"/>
            <a:ext cx="4158615" cy="1814513"/>
          </a:xfrm>
          <a:prstGeom prst="rect">
            <a:avLst/>
          </a:prstGeom>
          <a:noFill/>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Developed a dynamic, real-time dashboard that transforms complex data into intuitive visualizations, empowering users with immediate insights.</a:t>
            </a:r>
            <a:endParaRPr lang="en-US" sz="1750" dirty="0"/>
          </a:p>
        </p:txBody>
      </p:sp>
      <p:sp>
        <p:nvSpPr>
          <p:cNvPr id="12" name="Text 7"/>
          <p:cNvSpPr/>
          <p:nvPr/>
        </p:nvSpPr>
        <p:spPr>
          <a:xfrm>
            <a:off x="793790" y="5947767"/>
            <a:ext cx="13042821" cy="907018"/>
          </a:xfrm>
          <a:prstGeom prst="rect">
            <a:avLst/>
          </a:prstGeom>
          <a:noFill/>
        </p:spPr>
        <p:txBody>
          <a:bodyPr wrap="square" lIns="0" tIns="0" rIns="0" bIns="0" rtlCol="0" anchor="t"/>
          <a:lstStyle/>
          <a:p>
            <a:pPr marL="0" indent="0" algn="ctr">
              <a:lnSpc>
                <a:spcPts val="3550"/>
              </a:lnSpc>
              <a:buNone/>
            </a:pPr>
            <a:r>
              <a:rPr lang="en-US" sz="2200" dirty="0">
                <a:solidFill>
                  <a:srgbClr val="454240"/>
                </a:solidFill>
                <a:latin typeface="DM Sans" pitchFamily="34" charset="0"/>
                <a:ea typeface="DM Sans" pitchFamily="34" charset="-122"/>
                <a:cs typeface="DM Sans" pitchFamily="34" charset="-120"/>
              </a:rPr>
              <a:t>Our solution goes beyond simple classification, providing a powerful tool for understanding the landscape of online information.</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76751" y="1017984"/>
            <a:ext cx="9476899" cy="602456"/>
          </a:xfrm>
          <a:prstGeom prst="rect">
            <a:avLst/>
          </a:prstGeom>
          <a:noFill/>
        </p:spPr>
        <p:txBody>
          <a:bodyPr wrap="none" lIns="0" tIns="0" rIns="0" bIns="0" rtlCol="0" anchor="t"/>
          <a:lstStyle/>
          <a:p>
            <a:pPr marL="0" indent="0" algn="ctr">
              <a:lnSpc>
                <a:spcPts val="4700"/>
              </a:lnSpc>
              <a:buNone/>
            </a:pPr>
            <a:r>
              <a:rPr lang="en-US" sz="375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Applications &amp; Benefits: Broad Impact</a:t>
            </a:r>
            <a:endParaRPr lang="en-US" sz="3750" dirty="0"/>
          </a:p>
        </p:txBody>
      </p:sp>
      <p:sp>
        <p:nvSpPr>
          <p:cNvPr id="3" name="Shape 1"/>
          <p:cNvSpPr/>
          <p:nvPr>
            <p:custDataLst>
              <p:tags r:id="rId1"/>
            </p:custDataLst>
          </p:nvPr>
        </p:nvSpPr>
        <p:spPr>
          <a:xfrm>
            <a:off x="793790" y="2005965"/>
            <a:ext cx="13042821" cy="1156811"/>
          </a:xfrm>
          <a:prstGeom prst="roundRect">
            <a:avLst>
              <a:gd name="adj" fmla="val 7000"/>
            </a:avLst>
          </a:prstGeom>
          <a:solidFill>
            <a:srgbClr val="B88E23"/>
          </a:solidFill>
          <a:ln w="22860">
            <a:solidFill>
              <a:srgbClr val="DDD3BA"/>
            </a:solidFill>
            <a:prstDash val="solid"/>
          </a:ln>
        </p:spPr>
      </p:sp>
      <p:sp>
        <p:nvSpPr>
          <p:cNvPr id="4" name="Shape 2"/>
          <p:cNvSpPr/>
          <p:nvPr>
            <p:custDataLst>
              <p:tags r:id="rId2"/>
            </p:custDataLst>
          </p:nvPr>
        </p:nvSpPr>
        <p:spPr>
          <a:xfrm>
            <a:off x="816650" y="2028825"/>
            <a:ext cx="771168" cy="1111091"/>
          </a:xfrm>
          <a:prstGeom prst="roundRect">
            <a:avLst>
              <a:gd name="adj" fmla="val 6943"/>
            </a:avLst>
          </a:prstGeom>
          <a:solidFill>
            <a:srgbClr val="F7EDD4"/>
          </a:solidFill>
        </p:spPr>
      </p:sp>
      <p:pic>
        <p:nvPicPr>
          <p:cNvPr id="5" name="Image 0" descr="preencoded.png"/>
          <p:cNvPicPr>
            <a:picLocks noChangeAspect="1"/>
          </p:cNvPicPr>
          <p:nvPr>
            <p:custDataLst>
              <p:tags r:id="rId3"/>
            </p:custDataLst>
          </p:nvPr>
        </p:nvPicPr>
        <p:blipFill>
          <a:blip r:embed="rId4"/>
          <a:stretch>
            <a:fillRect/>
          </a:stretch>
        </p:blipFill>
        <p:spPr>
          <a:xfrm>
            <a:off x="1053822" y="2403634"/>
            <a:ext cx="289203" cy="361474"/>
          </a:xfrm>
          <a:prstGeom prst="rect">
            <a:avLst/>
          </a:prstGeom>
        </p:spPr>
      </p:pic>
      <p:sp>
        <p:nvSpPr>
          <p:cNvPr id="6" name="Text 3"/>
          <p:cNvSpPr/>
          <p:nvPr>
            <p:custDataLst>
              <p:tags r:id="rId5"/>
            </p:custDataLst>
          </p:nvPr>
        </p:nvSpPr>
        <p:spPr>
          <a:xfrm>
            <a:off x="1780580" y="2221587"/>
            <a:ext cx="2469594" cy="301228"/>
          </a:xfrm>
          <a:prstGeom prst="rect">
            <a:avLst/>
          </a:prstGeom>
          <a:noFill/>
        </p:spPr>
        <p:txBody>
          <a:bodyPr wrap="none" lIns="0" tIns="0" rIns="0" bIns="0" rtlCol="0" anchor="t"/>
          <a:lstStyle/>
          <a:p>
            <a:pPr marL="0" indent="0" algn="l">
              <a:lnSpc>
                <a:spcPts val="2350"/>
              </a:lnSpc>
              <a:buNone/>
            </a:pPr>
            <a:r>
              <a:rPr lang="en-US" sz="1850" dirty="0">
                <a:solidFill>
                  <a:srgbClr val="B88E23"/>
                </a:solidFill>
                <a:latin typeface="Libre Baskerville" panose="02000000000000000000" pitchFamily="34" charset="0"/>
                <a:ea typeface="Libre Baskerville" panose="02000000000000000000" pitchFamily="34" charset="-122"/>
                <a:cs typeface="Libre Baskerville" panose="02000000000000000000" pitchFamily="34" charset="-120"/>
              </a:rPr>
              <a:t>Media &amp; Journalism</a:t>
            </a:r>
            <a:endParaRPr lang="en-US" sz="1850" dirty="0"/>
          </a:p>
        </p:txBody>
      </p:sp>
      <p:sp>
        <p:nvSpPr>
          <p:cNvPr id="7" name="Text 4"/>
          <p:cNvSpPr/>
          <p:nvPr>
            <p:custDataLst>
              <p:tags r:id="rId6"/>
            </p:custDataLst>
          </p:nvPr>
        </p:nvSpPr>
        <p:spPr>
          <a:xfrm>
            <a:off x="1780580" y="2638425"/>
            <a:ext cx="12033171" cy="308372"/>
          </a:xfrm>
          <a:prstGeom prst="rect">
            <a:avLst/>
          </a:prstGeom>
          <a:noFill/>
        </p:spPr>
        <p:txBody>
          <a:bodyPr wrap="none" lIns="0" tIns="0" rIns="0" bIns="0" rtlCol="0" anchor="t"/>
          <a:lstStyle/>
          <a:p>
            <a:pPr marL="0" indent="0" algn="l">
              <a:lnSpc>
                <a:spcPts val="2400"/>
              </a:lnSpc>
              <a:buNone/>
            </a:pPr>
            <a:r>
              <a:rPr lang="en-US" altLang="en-US" sz="1500" dirty="0">
                <a:solidFill>
                  <a:srgbClr val="000000"/>
                </a:solidFill>
                <a:latin typeface="DM Sans" pitchFamily="34" charset="0"/>
                <a:ea typeface="DM Sans" pitchFamily="34" charset="-122"/>
                <a:cs typeface="DM Sans" pitchFamily="34" charset="-120"/>
              </a:rPr>
              <a:t>Media &amp; Journalism fact-checking.</a:t>
            </a:r>
            <a:endParaRPr lang="en-US" altLang="en-US" sz="1500" dirty="0">
              <a:solidFill>
                <a:srgbClr val="000000"/>
              </a:solidFill>
              <a:latin typeface="DM Sans" pitchFamily="34" charset="0"/>
              <a:ea typeface="DM Sans" pitchFamily="34" charset="-122"/>
              <a:cs typeface="DM Sans" pitchFamily="34" charset="-120"/>
            </a:endParaRPr>
          </a:p>
          <a:p>
            <a:pPr marL="0" indent="0" algn="l">
              <a:lnSpc>
                <a:spcPts val="2400"/>
              </a:lnSpc>
              <a:buNone/>
            </a:pPr>
            <a:endParaRPr lang="en-US" altLang="en-US" sz="1500" dirty="0">
              <a:solidFill>
                <a:srgbClr val="000000"/>
              </a:solidFill>
              <a:latin typeface="DM Sans" pitchFamily="34" charset="0"/>
              <a:ea typeface="DM Sans" pitchFamily="34" charset="-122"/>
              <a:cs typeface="DM Sans" pitchFamily="34" charset="-120"/>
            </a:endParaRPr>
          </a:p>
        </p:txBody>
      </p:sp>
      <p:sp>
        <p:nvSpPr>
          <p:cNvPr id="8" name="Shape 5"/>
          <p:cNvSpPr/>
          <p:nvPr>
            <p:custDataLst>
              <p:tags r:id="rId7"/>
            </p:custDataLst>
          </p:nvPr>
        </p:nvSpPr>
        <p:spPr>
          <a:xfrm>
            <a:off x="793790" y="3355538"/>
            <a:ext cx="13042821" cy="1156811"/>
          </a:xfrm>
          <a:prstGeom prst="roundRect">
            <a:avLst>
              <a:gd name="adj" fmla="val 7000"/>
            </a:avLst>
          </a:prstGeom>
          <a:solidFill>
            <a:srgbClr val="B88E23"/>
          </a:solidFill>
          <a:ln w="22860">
            <a:solidFill>
              <a:srgbClr val="DDD3BA"/>
            </a:solidFill>
            <a:prstDash val="solid"/>
          </a:ln>
        </p:spPr>
      </p:sp>
      <p:sp>
        <p:nvSpPr>
          <p:cNvPr id="9" name="Shape 6"/>
          <p:cNvSpPr/>
          <p:nvPr>
            <p:custDataLst>
              <p:tags r:id="rId8"/>
            </p:custDataLst>
          </p:nvPr>
        </p:nvSpPr>
        <p:spPr>
          <a:xfrm>
            <a:off x="816650" y="3378398"/>
            <a:ext cx="771168" cy="1111091"/>
          </a:xfrm>
          <a:prstGeom prst="roundRect">
            <a:avLst>
              <a:gd name="adj" fmla="val 6943"/>
            </a:avLst>
          </a:prstGeom>
          <a:solidFill>
            <a:srgbClr val="F7EDD4"/>
          </a:solidFill>
        </p:spPr>
      </p:sp>
      <p:pic>
        <p:nvPicPr>
          <p:cNvPr id="10" name="Image 1" descr="preencoded.png"/>
          <p:cNvPicPr>
            <a:picLocks noChangeAspect="1"/>
          </p:cNvPicPr>
          <p:nvPr>
            <p:custDataLst>
              <p:tags r:id="rId9"/>
            </p:custDataLst>
          </p:nvPr>
        </p:nvPicPr>
        <p:blipFill>
          <a:blip r:embed="rId10"/>
          <a:stretch>
            <a:fillRect/>
          </a:stretch>
        </p:blipFill>
        <p:spPr>
          <a:xfrm>
            <a:off x="1053822" y="3753207"/>
            <a:ext cx="289203" cy="361474"/>
          </a:xfrm>
          <a:prstGeom prst="rect">
            <a:avLst/>
          </a:prstGeom>
        </p:spPr>
      </p:pic>
      <p:sp>
        <p:nvSpPr>
          <p:cNvPr id="11" name="Text 7"/>
          <p:cNvSpPr/>
          <p:nvPr>
            <p:custDataLst>
              <p:tags r:id="rId11"/>
            </p:custDataLst>
          </p:nvPr>
        </p:nvSpPr>
        <p:spPr>
          <a:xfrm>
            <a:off x="1780580" y="3571161"/>
            <a:ext cx="2848928" cy="301228"/>
          </a:xfrm>
          <a:prstGeom prst="rect">
            <a:avLst/>
          </a:prstGeom>
          <a:noFill/>
        </p:spPr>
        <p:txBody>
          <a:bodyPr wrap="none" lIns="0" tIns="0" rIns="0" bIns="0" rtlCol="0" anchor="t"/>
          <a:lstStyle/>
          <a:p>
            <a:pPr marL="0" indent="0" algn="l">
              <a:lnSpc>
                <a:spcPts val="2350"/>
              </a:lnSpc>
              <a:buNone/>
            </a:pPr>
            <a:r>
              <a:rPr lang="en-US" sz="1850" dirty="0">
                <a:solidFill>
                  <a:srgbClr val="B88E23"/>
                </a:solidFill>
                <a:latin typeface="Libre Baskerville" panose="02000000000000000000" pitchFamily="34" charset="0"/>
                <a:ea typeface="Libre Baskerville" panose="02000000000000000000" pitchFamily="34" charset="-122"/>
                <a:cs typeface="Libre Baskerville" panose="02000000000000000000" pitchFamily="34" charset="-120"/>
              </a:rPr>
              <a:t>Social Media Platforms</a:t>
            </a:r>
            <a:endParaRPr lang="en-US" sz="1850" dirty="0"/>
          </a:p>
        </p:txBody>
      </p:sp>
      <p:sp>
        <p:nvSpPr>
          <p:cNvPr id="12" name="Text 8"/>
          <p:cNvSpPr/>
          <p:nvPr>
            <p:custDataLst>
              <p:tags r:id="rId12"/>
            </p:custDataLst>
          </p:nvPr>
        </p:nvSpPr>
        <p:spPr>
          <a:xfrm>
            <a:off x="1780580" y="3987998"/>
            <a:ext cx="12033171" cy="308372"/>
          </a:xfrm>
          <a:prstGeom prst="rect">
            <a:avLst/>
          </a:prstGeom>
          <a:noFill/>
        </p:spPr>
        <p:txBody>
          <a:bodyPr wrap="none" lIns="0" tIns="0" rIns="0" bIns="0" rtlCol="0" anchor="t"/>
          <a:lstStyle/>
          <a:p>
            <a:pPr marL="0" indent="0" algn="l">
              <a:lnSpc>
                <a:spcPts val="2400"/>
              </a:lnSpc>
              <a:buNone/>
            </a:pPr>
            <a:r>
              <a:rPr lang="en-US" sz="1500" dirty="0">
                <a:solidFill>
                  <a:srgbClr val="000000"/>
                </a:solidFill>
                <a:latin typeface="DM Sans" pitchFamily="34" charset="0"/>
                <a:ea typeface="DM Sans" pitchFamily="34" charset="-122"/>
                <a:cs typeface="DM Sans" pitchFamily="34" charset="-120"/>
              </a:rPr>
              <a:t/>
            </a:r>
            <a:r>
              <a:rPr lang="en-IN" altLang="en-US" sz="1500" dirty="0">
                <a:solidFill>
                  <a:srgbClr val="000000"/>
                </a:solidFill>
                <a:latin typeface="DM Sans" pitchFamily="34" charset="0"/>
                <a:ea typeface="DM Sans" pitchFamily="34" charset="-122"/>
                <a:cs typeface="DM Sans" pitchFamily="34" charset="-120"/>
              </a:rPr>
              <a:t>Social media monitoring.</a:t>
            </a:r>
            <a:endParaRPr lang="en-US" altLang="en-US" sz="1500" dirty="0"/>
          </a:p>
        </p:txBody>
      </p:sp>
      <p:sp>
        <p:nvSpPr>
          <p:cNvPr id="13" name="Shape 9"/>
          <p:cNvSpPr/>
          <p:nvPr>
            <p:custDataLst>
              <p:tags r:id="rId13"/>
            </p:custDataLst>
          </p:nvPr>
        </p:nvSpPr>
        <p:spPr>
          <a:xfrm>
            <a:off x="793790" y="4705112"/>
            <a:ext cx="13042821" cy="1156811"/>
          </a:xfrm>
          <a:prstGeom prst="roundRect">
            <a:avLst>
              <a:gd name="adj" fmla="val 7000"/>
            </a:avLst>
          </a:prstGeom>
          <a:solidFill>
            <a:srgbClr val="B88E23"/>
          </a:solidFill>
          <a:ln w="22860">
            <a:solidFill>
              <a:srgbClr val="DDD3BA"/>
            </a:solidFill>
            <a:prstDash val="solid"/>
          </a:ln>
        </p:spPr>
      </p:sp>
      <p:sp>
        <p:nvSpPr>
          <p:cNvPr id="14" name="Shape 10"/>
          <p:cNvSpPr/>
          <p:nvPr>
            <p:custDataLst>
              <p:tags r:id="rId14"/>
            </p:custDataLst>
          </p:nvPr>
        </p:nvSpPr>
        <p:spPr>
          <a:xfrm>
            <a:off x="816650" y="4727972"/>
            <a:ext cx="771168" cy="1111091"/>
          </a:xfrm>
          <a:prstGeom prst="roundRect">
            <a:avLst>
              <a:gd name="adj" fmla="val 6943"/>
            </a:avLst>
          </a:prstGeom>
          <a:solidFill>
            <a:srgbClr val="F7EDD4"/>
          </a:solidFill>
        </p:spPr>
      </p:sp>
      <p:pic>
        <p:nvPicPr>
          <p:cNvPr id="15" name="Image 2" descr="preencoded.png"/>
          <p:cNvPicPr>
            <a:picLocks noChangeAspect="1"/>
          </p:cNvPicPr>
          <p:nvPr>
            <p:custDataLst>
              <p:tags r:id="rId15"/>
            </p:custDataLst>
          </p:nvPr>
        </p:nvPicPr>
        <p:blipFill>
          <a:blip r:embed="rId16"/>
          <a:stretch>
            <a:fillRect/>
          </a:stretch>
        </p:blipFill>
        <p:spPr>
          <a:xfrm>
            <a:off x="1053822" y="5102781"/>
            <a:ext cx="289203" cy="361474"/>
          </a:xfrm>
          <a:prstGeom prst="rect">
            <a:avLst/>
          </a:prstGeom>
        </p:spPr>
      </p:pic>
      <p:sp>
        <p:nvSpPr>
          <p:cNvPr id="16" name="Text 11"/>
          <p:cNvSpPr/>
          <p:nvPr>
            <p:custDataLst>
              <p:tags r:id="rId17"/>
            </p:custDataLst>
          </p:nvPr>
        </p:nvSpPr>
        <p:spPr>
          <a:xfrm>
            <a:off x="1780580" y="4920734"/>
            <a:ext cx="4797266" cy="301228"/>
          </a:xfrm>
          <a:prstGeom prst="rect">
            <a:avLst/>
          </a:prstGeom>
          <a:noFill/>
        </p:spPr>
        <p:txBody>
          <a:bodyPr wrap="none" lIns="0" tIns="0" rIns="0" bIns="0" rtlCol="0" anchor="t"/>
          <a:lstStyle/>
          <a:p>
            <a:pPr marL="0" indent="0" algn="l">
              <a:lnSpc>
                <a:spcPts val="2350"/>
              </a:lnSpc>
              <a:buNone/>
            </a:pPr>
            <a:r>
              <a:rPr lang="en-US" sz="1850" dirty="0">
                <a:solidFill>
                  <a:srgbClr val="B88E23"/>
                </a:solidFill>
                <a:latin typeface="Libre Baskerville" panose="02000000000000000000" pitchFamily="34" charset="0"/>
                <a:ea typeface="Libre Baskerville" panose="02000000000000000000" pitchFamily="34" charset="-122"/>
                <a:cs typeface="Libre Baskerville" panose="02000000000000000000" pitchFamily="34" charset="-120"/>
              </a:rPr>
              <a:t>Public Relations &amp; Brand Management</a:t>
            </a:r>
            <a:endParaRPr lang="en-US" sz="1850" dirty="0"/>
          </a:p>
        </p:txBody>
      </p:sp>
      <p:sp>
        <p:nvSpPr>
          <p:cNvPr id="17" name="Text 12"/>
          <p:cNvSpPr/>
          <p:nvPr>
            <p:custDataLst>
              <p:tags r:id="rId18"/>
            </p:custDataLst>
          </p:nvPr>
        </p:nvSpPr>
        <p:spPr>
          <a:xfrm>
            <a:off x="1780580" y="5337572"/>
            <a:ext cx="12033171" cy="308372"/>
          </a:xfrm>
          <a:prstGeom prst="rect">
            <a:avLst/>
          </a:prstGeom>
          <a:noFill/>
        </p:spPr>
        <p:txBody>
          <a:bodyPr wrap="none" lIns="0" tIns="0" rIns="0" bIns="0" rtlCol="0" anchor="t"/>
          <a:lstStyle/>
          <a:p>
            <a:pPr marL="0" indent="0" algn="l">
              <a:lnSpc>
                <a:spcPts val="2400"/>
              </a:lnSpc>
              <a:buNone/>
            </a:pPr>
            <a:r>
              <a:rPr lang="en-IN" altLang="en-US" sz="1500" dirty="0">
                <a:solidFill>
                  <a:srgbClr val="000000"/>
                </a:solidFill>
                <a:latin typeface="DM Sans" pitchFamily="34" charset="0"/>
                <a:ea typeface="DM Sans" pitchFamily="34" charset="-122"/>
                <a:cs typeface="DM Sans" pitchFamily="34" charset="-120"/>
              </a:rPr>
              <a:t> Political Compaigns analysis.</a:t>
            </a:r>
            <a:endParaRPr lang="en-IN" altLang="en-US" sz="1500" dirty="0">
              <a:solidFill>
                <a:srgbClr val="000000"/>
              </a:solidFill>
              <a:latin typeface="DM Sans" pitchFamily="34" charset="0"/>
              <a:ea typeface="DM Sans" pitchFamily="34" charset="-122"/>
              <a:cs typeface="DM Sans" pitchFamily="34" charset="-120"/>
            </a:endParaRPr>
          </a:p>
        </p:txBody>
      </p:sp>
      <p:sp>
        <p:nvSpPr>
          <p:cNvPr id="18" name="Shape 13"/>
          <p:cNvSpPr/>
          <p:nvPr>
            <p:custDataLst>
              <p:tags r:id="rId19"/>
            </p:custDataLst>
          </p:nvPr>
        </p:nvSpPr>
        <p:spPr>
          <a:xfrm>
            <a:off x="793790" y="6054685"/>
            <a:ext cx="13042821" cy="1156811"/>
          </a:xfrm>
          <a:prstGeom prst="roundRect">
            <a:avLst>
              <a:gd name="adj" fmla="val 7000"/>
            </a:avLst>
          </a:prstGeom>
          <a:solidFill>
            <a:srgbClr val="B88E23"/>
          </a:solidFill>
          <a:ln w="22860">
            <a:solidFill>
              <a:srgbClr val="DDD3BA"/>
            </a:solidFill>
            <a:prstDash val="solid"/>
          </a:ln>
        </p:spPr>
      </p:sp>
      <p:sp>
        <p:nvSpPr>
          <p:cNvPr id="19" name="Shape 14"/>
          <p:cNvSpPr/>
          <p:nvPr>
            <p:custDataLst>
              <p:tags r:id="rId20"/>
            </p:custDataLst>
          </p:nvPr>
        </p:nvSpPr>
        <p:spPr>
          <a:xfrm>
            <a:off x="816650" y="6077545"/>
            <a:ext cx="771168" cy="1111091"/>
          </a:xfrm>
          <a:prstGeom prst="roundRect">
            <a:avLst>
              <a:gd name="adj" fmla="val 6943"/>
            </a:avLst>
          </a:prstGeom>
          <a:solidFill>
            <a:srgbClr val="F7EDD4"/>
          </a:solidFill>
        </p:spPr>
      </p:sp>
      <p:pic>
        <p:nvPicPr>
          <p:cNvPr id="20" name="Image 3" descr="preencoded.png"/>
          <p:cNvPicPr>
            <a:picLocks noChangeAspect="1"/>
          </p:cNvPicPr>
          <p:nvPr>
            <p:custDataLst>
              <p:tags r:id="rId21"/>
            </p:custDataLst>
          </p:nvPr>
        </p:nvPicPr>
        <p:blipFill>
          <a:blip r:embed="rId22"/>
          <a:stretch>
            <a:fillRect/>
          </a:stretch>
        </p:blipFill>
        <p:spPr>
          <a:xfrm>
            <a:off x="1053822" y="6452354"/>
            <a:ext cx="289203" cy="361474"/>
          </a:xfrm>
          <a:prstGeom prst="rect">
            <a:avLst/>
          </a:prstGeom>
        </p:spPr>
      </p:pic>
      <p:sp>
        <p:nvSpPr>
          <p:cNvPr id="21" name="Text 15"/>
          <p:cNvSpPr/>
          <p:nvPr>
            <p:custDataLst>
              <p:tags r:id="rId23"/>
            </p:custDataLst>
          </p:nvPr>
        </p:nvSpPr>
        <p:spPr>
          <a:xfrm>
            <a:off x="1780580" y="6270308"/>
            <a:ext cx="3200400" cy="301228"/>
          </a:xfrm>
          <a:prstGeom prst="rect">
            <a:avLst/>
          </a:prstGeom>
          <a:noFill/>
        </p:spPr>
        <p:txBody>
          <a:bodyPr wrap="none" lIns="0" tIns="0" rIns="0" bIns="0" rtlCol="0" anchor="t"/>
          <a:lstStyle/>
          <a:p>
            <a:pPr marL="0" indent="0" algn="l">
              <a:lnSpc>
                <a:spcPts val="2350"/>
              </a:lnSpc>
              <a:buNone/>
            </a:pPr>
            <a:r>
              <a:rPr lang="en-US" sz="1850" dirty="0">
                <a:solidFill>
                  <a:srgbClr val="B88E23"/>
                </a:solidFill>
                <a:latin typeface="Libre Baskerville" panose="02000000000000000000" pitchFamily="34" charset="0"/>
                <a:ea typeface="Libre Baskerville" panose="02000000000000000000" pitchFamily="34" charset="-122"/>
                <a:cs typeface="Libre Baskerville" panose="02000000000000000000" pitchFamily="34" charset="-120"/>
              </a:rPr>
              <a:t>Individual Empowerment</a:t>
            </a:r>
            <a:endParaRPr lang="en-US" sz="1850" dirty="0"/>
          </a:p>
        </p:txBody>
      </p:sp>
      <p:sp>
        <p:nvSpPr>
          <p:cNvPr id="22" name="Text 16"/>
          <p:cNvSpPr/>
          <p:nvPr>
            <p:custDataLst>
              <p:tags r:id="rId24"/>
            </p:custDataLst>
          </p:nvPr>
        </p:nvSpPr>
        <p:spPr>
          <a:xfrm>
            <a:off x="1780580" y="6687145"/>
            <a:ext cx="12033171" cy="308372"/>
          </a:xfrm>
          <a:prstGeom prst="rect">
            <a:avLst/>
          </a:prstGeom>
          <a:noFill/>
        </p:spPr>
        <p:txBody>
          <a:bodyPr wrap="none" lIns="0" tIns="0" rIns="0" bIns="0" rtlCol="0" anchor="t"/>
          <a:lstStyle/>
          <a:p>
            <a:pPr marL="0" indent="0" algn="l">
              <a:lnSpc>
                <a:spcPts val="2400"/>
              </a:lnSpc>
              <a:buNone/>
            </a:pPr>
            <a:r>
              <a:rPr lang="en-IN" altLang="en-US" sz="1500" dirty="0">
                <a:solidFill>
                  <a:srgbClr val="000000"/>
                </a:solidFill>
                <a:latin typeface="DM Sans" pitchFamily="34" charset="0"/>
                <a:ea typeface="DM Sans" pitchFamily="34" charset="-122"/>
                <a:cs typeface="DM Sans" pitchFamily="34" charset="-120"/>
              </a:rPr>
              <a:t> Public Awarness Systems.</a:t>
            </a:r>
            <a:r>
              <a:rPr lang="en-US" sz="1500" dirty="0">
                <a:solidFill>
                  <a:srgbClr val="000000"/>
                </a:solidFill>
                <a:latin typeface="DM Sans" pitchFamily="34" charset="0"/>
                <a:ea typeface="DM Sans" pitchFamily="34" charset="-122"/>
                <a:cs typeface="DM Sans" pitchFamily="34" charset="-120"/>
              </a:rPr>
              <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59976"/>
            <a:ext cx="7975640" cy="708779"/>
          </a:xfrm>
          <a:prstGeom prst="rect">
            <a:avLst/>
          </a:prstGeom>
          <a:noFill/>
        </p:spPr>
        <p:txBody>
          <a:bodyPr wrap="none" lIns="0" tIns="0" rIns="0" bIns="0" rtlCol="0" anchor="t"/>
          <a:lstStyle/>
          <a:p>
            <a:pPr marL="0" indent="0" algn="l">
              <a:lnSpc>
                <a:spcPts val="5550"/>
              </a:lnSpc>
              <a:buNone/>
            </a:pPr>
            <a:r>
              <a:rPr lang="en-US" sz="445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Conclusion &amp; Future Scope</a:t>
            </a:r>
            <a:endParaRPr lang="en-US" sz="4450" dirty="0"/>
          </a:p>
        </p:txBody>
      </p:sp>
      <p:sp>
        <p:nvSpPr>
          <p:cNvPr id="3" name="Text 1"/>
          <p:cNvSpPr/>
          <p:nvPr/>
        </p:nvSpPr>
        <p:spPr>
          <a:xfrm>
            <a:off x="793790" y="1922383"/>
            <a:ext cx="13042821" cy="1088708"/>
          </a:xfrm>
          <a:prstGeom prst="rect">
            <a:avLst/>
          </a:prstGeom>
          <a:noFill/>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This project successfully delivers an automated system capable of both fake news detection and comprehensive sentiment analysis. It represents a significant step forward in combating misinformation online and providing valuable insights into public discourse.</a:t>
            </a:r>
            <a:endParaRPr lang="en-US" sz="1750" dirty="0"/>
          </a:p>
        </p:txBody>
      </p:sp>
      <p:sp>
        <p:nvSpPr>
          <p:cNvPr id="4" name="Shape 2"/>
          <p:cNvSpPr/>
          <p:nvPr/>
        </p:nvSpPr>
        <p:spPr>
          <a:xfrm>
            <a:off x="793790" y="3379622"/>
            <a:ext cx="13042821" cy="35957"/>
          </a:xfrm>
          <a:prstGeom prst="rect">
            <a:avLst/>
          </a:prstGeom>
          <a:solidFill>
            <a:srgbClr val="454240">
              <a:alpha val="50000"/>
            </a:srgbClr>
          </a:solidFill>
        </p:spPr>
      </p:sp>
      <p:sp>
        <p:nvSpPr>
          <p:cNvPr id="5" name="Text 3"/>
          <p:cNvSpPr/>
          <p:nvPr/>
        </p:nvSpPr>
        <p:spPr>
          <a:xfrm>
            <a:off x="4629388" y="3755708"/>
            <a:ext cx="5371505" cy="425291"/>
          </a:xfrm>
          <a:prstGeom prst="rect">
            <a:avLst/>
          </a:prstGeom>
          <a:noFill/>
        </p:spPr>
        <p:txBody>
          <a:bodyPr wrap="none" lIns="0" tIns="0" rIns="0" bIns="0" rtlCol="0" anchor="t"/>
          <a:lstStyle/>
          <a:p>
            <a:pPr marL="0" indent="0" algn="ctr">
              <a:lnSpc>
                <a:spcPts val="3300"/>
              </a:lnSpc>
              <a:buNone/>
            </a:pPr>
            <a:r>
              <a:rPr lang="en-US" sz="2650" dirty="0">
                <a:solidFill>
                  <a:srgbClr val="B88E23"/>
                </a:solidFill>
                <a:latin typeface="Libre Baskerville" panose="02000000000000000000" pitchFamily="34" charset="0"/>
                <a:ea typeface="Libre Baskerville" panose="02000000000000000000" pitchFamily="34" charset="-122"/>
                <a:cs typeface="Libre Baskerville" panose="02000000000000000000" pitchFamily="34" charset="-120"/>
              </a:rPr>
              <a:t>Future Enhancements Include:</a:t>
            </a:r>
            <a:endParaRPr lang="en-US" sz="2650" dirty="0"/>
          </a:p>
        </p:txBody>
      </p:sp>
      <p:sp>
        <p:nvSpPr>
          <p:cNvPr id="6" name="Text 4"/>
          <p:cNvSpPr/>
          <p:nvPr/>
        </p:nvSpPr>
        <p:spPr>
          <a:xfrm>
            <a:off x="793790" y="4747974"/>
            <a:ext cx="3979545" cy="708660"/>
          </a:xfrm>
          <a:prstGeom prst="rect">
            <a:avLst/>
          </a:prstGeom>
          <a:noFill/>
        </p:spPr>
        <p:txBody>
          <a:bodyPr wrap="square" lIns="0" tIns="0" rIns="0" bIns="0" rtlCol="0" anchor="t"/>
          <a:lstStyle/>
          <a:p>
            <a:pPr marL="0" indent="0" algn="ctr">
              <a:lnSpc>
                <a:spcPts val="2750"/>
              </a:lnSpc>
              <a:buNone/>
            </a:pPr>
            <a:r>
              <a:rPr lang="en-IN" altLang="en-US" sz="22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
            </a:r>
            <a:r>
              <a:rPr lang="en-US" altLang="en-US" sz="22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Integration with real-time news APIs</a:t>
            </a:r>
            <a:r>
              <a:rPr lang="en-US" sz="22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
            </a:r>
            <a:endParaRPr lang="en-US" sz="2200" dirty="0"/>
          </a:p>
        </p:txBody>
      </p:sp>
      <p:sp>
        <p:nvSpPr>
          <p:cNvPr id="7" name="Text 5"/>
          <p:cNvSpPr/>
          <p:nvPr/>
        </p:nvSpPr>
        <p:spPr>
          <a:xfrm>
            <a:off x="793790" y="5683448"/>
            <a:ext cx="3979545" cy="1088708"/>
          </a:xfrm>
          <a:prstGeom prst="rect">
            <a:avLst/>
          </a:prstGeom>
          <a:noFill/>
        </p:spPr>
        <p:txBody>
          <a:bodyPr wrap="square" lIns="0" tIns="0" rIns="0" bIns="0" rtlCol="0" anchor="t"/>
          <a:lstStyle/>
          <a:p>
            <a:pPr indent="0" algn="l">
              <a:lnSpc>
                <a:spcPts val="2850"/>
              </a:lnSpc>
              <a:buSzPct val="100000"/>
              <a:buNone/>
            </a:pPr>
            <a:endParaRPr lang="en-US" sz="1750" dirty="0"/>
          </a:p>
        </p:txBody>
      </p:sp>
      <p:sp>
        <p:nvSpPr>
          <p:cNvPr id="8" name="Text 6"/>
          <p:cNvSpPr/>
          <p:nvPr/>
        </p:nvSpPr>
        <p:spPr>
          <a:xfrm>
            <a:off x="7587615" y="4747895"/>
            <a:ext cx="6294755" cy="561975"/>
          </a:xfrm>
          <a:prstGeom prst="rect">
            <a:avLst/>
          </a:prstGeom>
          <a:noFill/>
        </p:spPr>
        <p:txBody>
          <a:bodyPr wrap="none" lIns="0" tIns="0" rIns="0" bIns="0" rtlCol="0" anchor="t"/>
          <a:lstStyle/>
          <a:p>
            <a:pPr marL="0" indent="0" algn="ctr">
              <a:lnSpc>
                <a:spcPts val="2750"/>
              </a:lnSpc>
              <a:buNone/>
            </a:pPr>
            <a:r>
              <a:rPr lang="en-US" altLang="en-US" sz="22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Multilingual fake news detection</a:t>
            </a:r>
            <a:endParaRPr lang="en-US" altLang="en-US" sz="22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endParaRPr>
          </a:p>
        </p:txBody>
      </p:sp>
      <p:sp>
        <p:nvSpPr>
          <p:cNvPr id="9" name="Text 7"/>
          <p:cNvSpPr/>
          <p:nvPr/>
        </p:nvSpPr>
        <p:spPr>
          <a:xfrm>
            <a:off x="5334357" y="5329118"/>
            <a:ext cx="3978116" cy="1088708"/>
          </a:xfrm>
          <a:prstGeom prst="rect">
            <a:avLst/>
          </a:prstGeom>
          <a:noFill/>
        </p:spPr>
        <p:txBody>
          <a:bodyPr wrap="square" lIns="0" tIns="0" rIns="0" bIns="0" rtlCol="0" anchor="t"/>
          <a:lstStyle/>
          <a:p>
            <a:pPr indent="0" algn="l">
              <a:lnSpc>
                <a:spcPts val="2850"/>
              </a:lnSpc>
              <a:buSzPct val="100000"/>
              <a:buNone/>
            </a:pPr>
            <a:endParaRPr lang="en-US" sz="1750" dirty="0"/>
          </a:p>
        </p:txBody>
      </p:sp>
      <p:sp>
        <p:nvSpPr>
          <p:cNvPr id="10" name="Text 8"/>
          <p:cNvSpPr/>
          <p:nvPr/>
        </p:nvSpPr>
        <p:spPr>
          <a:xfrm>
            <a:off x="4121150" y="5749925"/>
            <a:ext cx="5370830" cy="694690"/>
          </a:xfrm>
          <a:prstGeom prst="rect">
            <a:avLst/>
          </a:prstGeom>
          <a:noFill/>
        </p:spPr>
        <p:txBody>
          <a:bodyPr wrap="none" lIns="0" tIns="0" rIns="0" bIns="0" rtlCol="0" anchor="t"/>
          <a:lstStyle/>
          <a:p>
            <a:pPr marL="0" indent="0" algn="ctr">
              <a:lnSpc>
                <a:spcPts val="2750"/>
              </a:lnSpc>
              <a:buNone/>
            </a:pPr>
            <a:r>
              <a:rPr lang="en-IN" altLang="en-US"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
            </a:r>
            <a:r>
              <a:rPr lang="en-IN" altLang="en-US" sz="24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F</a:t>
            </a:r>
            <a:r>
              <a:rPr lang="en-US" altLang="en-US" sz="24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eedback loop for </a:t>
            </a:r>
            <a:r>
              <a:rPr lang="en-US" altLang="en-US" sz="24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improved accuracy.</a:t>
            </a:r>
            <a:r>
              <a:rPr lang="en-US"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
            </a:r>
            <a:endParaRPr lang="en-US" dirty="0"/>
          </a:p>
        </p:txBody>
      </p:sp>
      <p:sp>
        <p:nvSpPr>
          <p:cNvPr id="11" name="Text 9"/>
          <p:cNvSpPr/>
          <p:nvPr/>
        </p:nvSpPr>
        <p:spPr>
          <a:xfrm>
            <a:off x="9873496" y="5329118"/>
            <a:ext cx="3978116" cy="1088708"/>
          </a:xfrm>
          <a:prstGeom prst="rect">
            <a:avLst/>
          </a:prstGeom>
          <a:noFill/>
        </p:spPr>
        <p:txBody>
          <a:bodyPr wrap="square" lIns="0" tIns="0" rIns="0" bIns="0" rtlCol="0" anchor="t"/>
          <a:lstStyle/>
          <a:p>
            <a:pPr indent="0" algn="l">
              <a:lnSpc>
                <a:spcPts val="2850"/>
              </a:lnSpc>
              <a:buSzPct val="100000"/>
              <a:buNone/>
            </a:pPr>
            <a:endParaRPr lang="en-US" sz="1750" dirty="0"/>
          </a:p>
        </p:txBody>
      </p:sp>
      <p:sp>
        <p:nvSpPr>
          <p:cNvPr id="12" name="Text 10"/>
          <p:cNvSpPr/>
          <p:nvPr/>
        </p:nvSpPr>
        <p:spPr>
          <a:xfrm>
            <a:off x="793790" y="7106603"/>
            <a:ext cx="13042821" cy="362903"/>
          </a:xfrm>
          <a:prstGeom prst="rect">
            <a:avLst/>
          </a:prstGeom>
          <a:noFill/>
        </p:spPr>
        <p:txBody>
          <a:bodyPr wrap="none" lIns="0" tIns="0" rIns="0" bIns="0" rtlCol="0" anchor="t"/>
          <a:lstStyle/>
          <a:p>
            <a:pPr marL="0" indent="0" algn="ctr">
              <a:lnSpc>
                <a:spcPts val="2850"/>
              </a:lnSpc>
              <a:buNone/>
            </a:pPr>
            <a:endParaRPr lang="en-IN" alt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23340" y="3291840"/>
            <a:ext cx="10631805" cy="2725420"/>
          </a:xfrm>
          <a:prstGeom prst="rect">
            <a:avLst/>
          </a:prstGeom>
          <a:noFill/>
        </p:spPr>
        <p:txBody>
          <a:bodyPr wrap="square" rtlCol="0">
            <a:noAutofit/>
          </a:bodyPr>
          <a:p>
            <a:r>
              <a:rPr lang="en-IN" altLang="en-US"/>
              <a:t/>
            </a:r>
            <a:r>
              <a:rPr lang="en-IN" altLang="en-US" sz="8000">
                <a:latin typeface="Sitka Small Semibold" charset="0"/>
                <a:cs typeface="Sitka Small Semibold" charset="0"/>
              </a:rPr>
              <a:t> THANK YOU</a:t>
            </a:r>
            <a:endParaRPr lang="en-IN" altLang="en-US" sz="8000">
              <a:latin typeface="Sitka Small Semibold" charset="0"/>
              <a:cs typeface="Sitka Small Semibold" charset="0"/>
            </a:endParaRPr>
          </a:p>
        </p:txBody>
      </p:sp>
      <p:sp>
        <p:nvSpPr>
          <p:cNvPr id="6" name="Text Box 5"/>
          <p:cNvSpPr txBox="1"/>
          <p:nvPr/>
        </p:nvSpPr>
        <p:spPr>
          <a:xfrm>
            <a:off x="8275955" y="2936240"/>
            <a:ext cx="4876800" cy="368300"/>
          </a:xfrm>
          <a:prstGeom prst="rect">
            <a:avLst/>
          </a:prstGeom>
          <a:noFill/>
        </p:spPr>
        <p:txBody>
          <a:bodyPr wrap="square" rtlCol="0">
            <a:spAutoFit/>
          </a:bodyPr>
          <a:p>
            <a:endParaRPr lang="en-US"/>
          </a:p>
        </p:txBody>
      </p:sp>
    </p:spTree>
  </p:cSld>
  <p:clrMapOvr>
    <a:masterClrMapping/>
  </p:clrMapOvr>
</p:sld>
</file>

<file path=ppt/tags/tag1.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2.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3.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4.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5.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6.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7.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8.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9.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10.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11.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12.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13.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14.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15.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16.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17.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18.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19.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20.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21.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22.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23.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24.xml><?xml version="1.0" encoding="utf-8"?>
<p:tagLst xmlns:p="http://schemas.openxmlformats.org/presentationml/2006/main">
  <p:tag name="KSO_WM_DIAGRAM_VIRTUALLY_FRAME" val="{&quot;height&quot;:449.9156692913386,&quot;left&quot;:62.50314960629921,&quot;top&quot;:144.80622047244094,&quot;width&quot;:1026.9937795275594}"/>
</p:tagLst>
</file>

<file path=ppt/tags/tag25.xml><?xml version="1.0" encoding="utf-8"?>
<p:tagLst xmlns:p="http://schemas.openxmlformats.org/presentationml/2006/main">
  <p:tag name="KSO_WM_DIAGRAM_VIRTUALLY_FRAME" val="{&quot;height&quot;:133.3874803149606,&quot;left&quot;:62.1,&quot;top&quot;:246.2625196850394,&quot;width&quot;:1028.4}"/>
</p:tagLst>
</file>

<file path=ppt/tags/tag26.xml><?xml version="1.0" encoding="utf-8"?>
<p:tagLst xmlns:p="http://schemas.openxmlformats.org/presentationml/2006/main">
  <p:tag name="KSO_WM_DIAGRAM_VIRTUALLY_FRAME" val="{&quot;height&quot;:133.3874803149606,&quot;left&quot;:62.1,&quot;top&quot;:246.2625196850394,&quot;width&quot;:1028.4}"/>
</p:tagLst>
</file>

<file path=ppt/tags/tag27.xml><?xml version="1.0" encoding="utf-8"?>
<p:tagLst xmlns:p="http://schemas.openxmlformats.org/presentationml/2006/main">
  <p:tag name="KSO_WM_DIAGRAM_VIRTUALLY_FRAME" val="{&quot;height&quot;:133.3874803149606,&quot;left&quot;:62.1,&quot;top&quot;:246.2625196850394,&quot;width&quot;:1028.4}"/>
</p:tagLst>
</file>

<file path=ppt/tags/tag28.xml><?xml version="1.0" encoding="utf-8"?>
<p:tagLst xmlns:p="http://schemas.openxmlformats.org/presentationml/2006/main">
  <p:tag name="KSO_WM_DIAGRAM_VIRTUALLY_FRAME" val="{&quot;height&quot;:133.3874803149606,&quot;left&quot;:62.1,&quot;top&quot;:246.2625196850394,&quot;width&quot;:1028.4}"/>
</p:tagLst>
</file>

<file path=ppt/tags/tag29.xml><?xml version="1.0" encoding="utf-8"?>
<p:tagLst xmlns:p="http://schemas.openxmlformats.org/presentationml/2006/main">
  <p:tag name="KSO_WM_DIAGRAM_VIRTUALLY_FRAME" val="{&quot;height&quot;:409.8843307086614,&quot;left&quot;:62.50314960629921,&quot;top&quot;:157.95,&quot;width&quot;:1026.9937795275594}"/>
</p:tagLst>
</file>

<file path=ppt/tags/tag30.xml><?xml version="1.0" encoding="utf-8"?>
<p:tagLst xmlns:p="http://schemas.openxmlformats.org/presentationml/2006/main">
  <p:tag name="KSO_WM_DIAGRAM_VIRTUALLY_FRAME" val="{&quot;height&quot;:409.8843307086614,&quot;left&quot;:62.50314960629921,&quot;top&quot;:157.95,&quot;width&quot;:1026.9937795275594}"/>
</p:tagLst>
</file>

<file path=ppt/tags/tag31.xml><?xml version="1.0" encoding="utf-8"?>
<p:tagLst xmlns:p="http://schemas.openxmlformats.org/presentationml/2006/main">
  <p:tag name="KSO_WM_DIAGRAM_VIRTUALLY_FRAME" val="{&quot;height&quot;:409.8843307086614,&quot;left&quot;:62.50314960629921,&quot;top&quot;:157.95,&quot;width&quot;:1026.9937795275594}"/>
</p:tagLst>
</file>

<file path=ppt/tags/tag32.xml><?xml version="1.0" encoding="utf-8"?>
<p:tagLst xmlns:p="http://schemas.openxmlformats.org/presentationml/2006/main">
  <p:tag name="KSO_WM_DIAGRAM_VIRTUALLY_FRAME" val="{&quot;height&quot;:409.8843307086614,&quot;left&quot;:62.50314960629921,&quot;top&quot;:157.95,&quot;width&quot;:1026.9937795275594}"/>
</p:tagLst>
</file>

<file path=ppt/tags/tag33.xml><?xml version="1.0" encoding="utf-8"?>
<p:tagLst xmlns:p="http://schemas.openxmlformats.org/presentationml/2006/main">
  <p:tag name="KSO_WM_DIAGRAM_VIRTUALLY_FRAME" val="{&quot;height&quot;:409.8843307086614,&quot;left&quot;:62.50314960629921,&quot;top&quot;:157.95,&quot;width&quot;:1026.9937795275594}"/>
</p:tagLst>
</file>

<file path=ppt/tags/tag34.xml><?xml version="1.0" encoding="utf-8"?>
<p:tagLst xmlns:p="http://schemas.openxmlformats.org/presentationml/2006/main">
  <p:tag name="KSO_WM_DIAGRAM_VIRTUALLY_FRAME" val="{&quot;height&quot;:409.8843307086614,&quot;left&quot;:62.50314960629921,&quot;top&quot;:157.95,&quot;width&quot;:1026.9937795275594}"/>
</p:tagLst>
</file>

<file path=ppt/tags/tag35.xml><?xml version="1.0" encoding="utf-8"?>
<p:tagLst xmlns:p="http://schemas.openxmlformats.org/presentationml/2006/main">
  <p:tag name="KSO_WM_DIAGRAM_VIRTUALLY_FRAME" val="{&quot;height&quot;:409.8843307086614,&quot;left&quot;:62.50314960629921,&quot;top&quot;:157.95,&quot;width&quot;:1026.9937795275594}"/>
</p:tagLst>
</file>

<file path=ppt/tags/tag36.xml><?xml version="1.0" encoding="utf-8"?>
<p:tagLst xmlns:p="http://schemas.openxmlformats.org/presentationml/2006/main">
  <p:tag name="KSO_WM_DIAGRAM_VIRTUALLY_FRAME" val="{&quot;height&quot;:409.8843307086614,&quot;left&quot;:62.50314960629921,&quot;top&quot;:157.95,&quot;width&quot;:1026.9937795275594}"/>
</p:tagLst>
</file>

<file path=ppt/tags/tag37.xml><?xml version="1.0" encoding="utf-8"?>
<p:tagLst xmlns:p="http://schemas.openxmlformats.org/presentationml/2006/main">
  <p:tag name="KSO_WM_DIAGRAM_VIRTUALLY_FRAME" val="{&quot;height&quot;:409.8843307086614,&quot;left&quot;:62.50314960629921,&quot;top&quot;:157.95,&quot;width&quot;:1026.9937795275594}"/>
</p:tagLst>
</file>

<file path=ppt/tags/tag38.xml><?xml version="1.0" encoding="utf-8"?>
<p:tagLst xmlns:p="http://schemas.openxmlformats.org/presentationml/2006/main">
  <p:tag name="KSO_WM_DIAGRAM_VIRTUALLY_FRAME" val="{&quot;height&quot;:409.8843307086614,&quot;left&quot;:62.50314960629921,&quot;top&quot;:157.95,&quot;width&quot;:1026.9937795275594}"/>
</p:tagLst>
</file>

<file path=ppt/tags/tag39.xml><?xml version="1.0" encoding="utf-8"?>
<p:tagLst xmlns:p="http://schemas.openxmlformats.org/presentationml/2006/main">
  <p:tag name="KSO_WM_DIAGRAM_VIRTUALLY_FRAME" val="{&quot;height&quot;:409.8843307086614,&quot;left&quot;:62.50314960629921,&quot;top&quot;:157.95,&quot;width&quot;:1026.9937795275594}"/>
</p:tagLst>
</file>

<file path=ppt/tags/tag40.xml><?xml version="1.0" encoding="utf-8"?>
<p:tagLst xmlns:p="http://schemas.openxmlformats.org/presentationml/2006/main">
  <p:tag name="KSO_WM_DIAGRAM_VIRTUALLY_FRAME" val="{&quot;height&quot;:409.8843307086614,&quot;left&quot;:62.50314960629921,&quot;top&quot;:157.95,&quot;width&quot;:1026.9937795275594}"/>
</p:tagLst>
</file>

<file path=ppt/tags/tag41.xml><?xml version="1.0" encoding="utf-8"?>
<p:tagLst xmlns:p="http://schemas.openxmlformats.org/presentationml/2006/main">
  <p:tag name="KSO_WM_DIAGRAM_VIRTUALLY_FRAME" val="{&quot;height&quot;:409.8843307086614,&quot;left&quot;:62.50314960629921,&quot;top&quot;:157.95,&quot;width&quot;:1026.9937795275594}"/>
</p:tagLst>
</file>

<file path=ppt/tags/tag42.xml><?xml version="1.0" encoding="utf-8"?>
<p:tagLst xmlns:p="http://schemas.openxmlformats.org/presentationml/2006/main">
  <p:tag name="KSO_WM_DIAGRAM_VIRTUALLY_FRAME" val="{&quot;height&quot;:409.8843307086614,&quot;left&quot;:62.50314960629921,&quot;top&quot;:157.95,&quot;width&quot;:1026.9937795275594}"/>
</p:tagLst>
</file>

<file path=ppt/tags/tag43.xml><?xml version="1.0" encoding="utf-8"?>
<p:tagLst xmlns:p="http://schemas.openxmlformats.org/presentationml/2006/main">
  <p:tag name="KSO_WM_DIAGRAM_VIRTUALLY_FRAME" val="{&quot;height&quot;:409.8843307086614,&quot;left&quot;:62.50314960629921,&quot;top&quot;:157.95,&quot;width&quot;:1026.9937795275594}"/>
</p:tagLst>
</file>

<file path=ppt/tags/tag44.xml><?xml version="1.0" encoding="utf-8"?>
<p:tagLst xmlns:p="http://schemas.openxmlformats.org/presentationml/2006/main">
  <p:tag name="KSO_WM_DIAGRAM_VIRTUALLY_FRAME" val="{&quot;height&quot;:409.8843307086614,&quot;left&quot;:62.50314960629921,&quot;top&quot;:157.95,&quot;width&quot;:1026.9937795275594}"/>
</p:tagLst>
</file>

<file path=ppt/tags/tag45.xml><?xml version="1.0" encoding="utf-8"?>
<p:tagLst xmlns:p="http://schemas.openxmlformats.org/presentationml/2006/main">
  <p:tag name="KSO_WM_DIAGRAM_VIRTUALLY_FRAME" val="{&quot;height&quot;:409.8843307086614,&quot;left&quot;:62.50314960629921,&quot;top&quot;:157.95,&quot;width&quot;:1026.9937795275594}"/>
</p:tagLst>
</file>

<file path=ppt/tags/tag46.xml><?xml version="1.0" encoding="utf-8"?>
<p:tagLst xmlns:p="http://schemas.openxmlformats.org/presentationml/2006/main">
  <p:tag name="KSO_WM_DIAGRAM_VIRTUALLY_FRAME" val="{&quot;height&quot;:409.8843307086614,&quot;left&quot;:62.50314960629921,&quot;top&quot;:157.95,&quot;width&quot;:1026.9937795275594}"/>
</p:tagLst>
</file>

<file path=ppt/tags/tag47.xml><?xml version="1.0" encoding="utf-8"?>
<p:tagLst xmlns:p="http://schemas.openxmlformats.org/presentationml/2006/main">
  <p:tag name="KSO_WM_DIAGRAM_VIRTUALLY_FRAME" val="{&quot;height&quot;:409.8843307086614,&quot;left&quot;:62.50314960629921,&quot;top&quot;:157.95,&quot;width&quot;:1026.9937795275594}"/>
</p:tagLst>
</file>

<file path=ppt/tags/tag48.xml><?xml version="1.0" encoding="utf-8"?>
<p:tagLst xmlns:p="http://schemas.openxmlformats.org/presentationml/2006/main">
  <p:tag name="KSO_WM_DIAGRAM_VIRTUALLY_FRAME" val="{&quot;height&quot;:409.8843307086614,&quot;left&quot;:62.50314960629921,&quot;top&quot;:157.95,&quot;width&quot;:1026.993779527559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5161</Words>
  <Application>WPS Presentation</Application>
  <PresentationFormat>Custom</PresentationFormat>
  <Paragraphs>152</Paragraphs>
  <Slides>11</Slides>
  <Notes>10</Notes>
  <HiddenSlides>0</HiddenSlides>
  <MMClips>0</MMClips>
  <ScaleCrop>false</ScaleCrop>
  <HeadingPairs>
    <vt:vector size="6" baseType="variant">
      <vt:variant>
        <vt:lpstr>已用的字体</vt:lpstr>
      </vt:variant>
      <vt:variant>
        <vt:i4>46</vt:i4>
      </vt:variant>
      <vt:variant>
        <vt:lpstr>主题</vt:lpstr>
      </vt:variant>
      <vt:variant>
        <vt:i4>1</vt:i4>
      </vt:variant>
      <vt:variant>
        <vt:lpstr>幻灯片标题</vt:lpstr>
      </vt:variant>
      <vt:variant>
        <vt:i4>11</vt:i4>
      </vt:variant>
    </vt:vector>
  </HeadingPairs>
  <TitlesOfParts>
    <vt:vector size="58" baseType="lpstr">
      <vt:lpstr>Arial</vt:lpstr>
      <vt:lpstr>SimSun</vt:lpstr>
      <vt:lpstr>Wingdings</vt:lpstr>
      <vt:lpstr>Libre Baskerville</vt:lpstr>
      <vt:lpstr>Libre Baskerville</vt:lpstr>
      <vt:lpstr>Libre Baskerville</vt:lpstr>
      <vt:lpstr>DM Sans</vt:lpstr>
      <vt:lpstr>DM Sans</vt:lpstr>
      <vt:lpstr>DM Sans</vt:lpstr>
      <vt:lpstr>Calibri</vt:lpstr>
      <vt:lpstr>Microsoft YaHei</vt:lpstr>
      <vt:lpstr>Arial Unicode MS</vt:lpstr>
      <vt:lpstr>3ds Condensed</vt:lpstr>
      <vt:lpstr>Bauhaus 93</vt:lpstr>
      <vt:lpstr>Bodoni MT Black</vt:lpstr>
      <vt:lpstr>Bahnschrift</vt:lpstr>
      <vt:lpstr>Baskerville Old Face</vt:lpstr>
      <vt:lpstr>Aldhabi</vt:lpstr>
      <vt:lpstr>Calibri Light</vt:lpstr>
      <vt:lpstr>3ds Condensed Light</vt:lpstr>
      <vt:lpstr>Agency FB</vt:lpstr>
      <vt:lpstr>Algerian</vt:lpstr>
      <vt:lpstr>Brush Script MT</vt:lpstr>
      <vt:lpstr>Broadway</vt:lpstr>
      <vt:lpstr>Britannic Bold</vt:lpstr>
      <vt:lpstr>Californian FB</vt:lpstr>
      <vt:lpstr>Calisto MT</vt:lpstr>
      <vt:lpstr>Bradley Hand ITC</vt:lpstr>
      <vt:lpstr>Eras Bold ITC</vt:lpstr>
      <vt:lpstr>3ds SemiBold</vt:lpstr>
      <vt:lpstr>Script MT Bold</vt:lpstr>
      <vt:lpstr>Segoe UI Semibold</vt:lpstr>
      <vt:lpstr>Rockwell Extra Bold</vt:lpstr>
      <vt:lpstr>Sitka Text Semibold</vt:lpstr>
      <vt:lpstr>Bahnschrift SemiBold</vt:lpstr>
      <vt:lpstr>Gill Sans Ultra Bold</vt:lpstr>
      <vt:lpstr>Sitka Small Semibold</vt:lpstr>
      <vt:lpstr>Dubai</vt:lpstr>
      <vt:lpstr>Dubai Light</vt:lpstr>
      <vt:lpstr>Ebrima</vt:lpstr>
      <vt:lpstr>Edwardian Script ITC</vt:lpstr>
      <vt:lpstr>Arial Black</vt:lpstr>
      <vt:lpstr>Bahnschrift SemiBold Condensed</vt:lpstr>
      <vt:lpstr>Book Antiqua</vt:lpstr>
      <vt:lpstr>Blackadder ITC</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ranga Pravalika</cp:lastModifiedBy>
  <cp:revision>3</cp:revision>
  <dcterms:created xsi:type="dcterms:W3CDTF">2025-08-23T22:01:00Z</dcterms:created>
  <dcterms:modified xsi:type="dcterms:W3CDTF">2025-08-23T23:14:15Z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CF1A183A75AF4E2A9EB9523304C819EF_13</vt:lpwstr>
  </property>
  <property fmtid="{D5CDD505-2E9C-101B-9397-08002B2CF9AE}" pid="3" name="KSOProductBuildVer">
    <vt:lpwstr>1033-12.2.0.21931</vt:lpwstr>
  </property>
</Properties>
</file>